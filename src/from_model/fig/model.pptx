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E1E0"/>
    <a:srgbClr val="FEF8F8"/>
    <a:srgbClr val="FFECA9"/>
    <a:srgbClr val="F7FEFF"/>
    <a:srgbClr val="E1F5D9"/>
    <a:srgbClr val="F7FFEF"/>
    <a:srgbClr val="FDDA59"/>
    <a:srgbClr val="FDD541"/>
    <a:srgbClr val="C2E8F7"/>
    <a:srgbClr val="C7E8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2912" y="9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E1E62-82E9-6090-E39F-A3338AB65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537565-CA04-EE82-B3C5-F852981B8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BFDA15-B838-6B5F-31B9-6D4D00C4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B352F-BD2B-CEB0-9F46-0560C9911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55A3-718C-9A75-BEF3-5920FCB0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338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F95F6-70D1-9520-71B3-AB684B933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FF89B-116D-8CD8-358C-51BFE5BB1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6EFE-E829-06B7-7845-CCAE664A8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FF9F4-4DBB-0010-30EF-43B45199E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52B04-8E59-F6FF-E0EA-BFD8AC925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3262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9A2E4-B3C4-2398-C43D-500B070A8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339239-DF26-DC1B-74EF-4F8062586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8E5B1-CC28-D5D9-3BA6-15F677AE1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0FEF4-7645-DC71-8B58-2225245C8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68E0EF-2E24-C943-2363-0BE1B78FF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57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14041-7656-BDFC-E750-A40A13EE2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F7010-0CBB-184C-A657-5F72C51F5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24536E-F6F9-684C-DE54-DA7F7189B0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4BF11D-79E8-9C58-C5C6-7A304B6A3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A81E9-A599-0F78-FEA1-F226B139D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17688B-63B0-A5BD-8A29-4332D6635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682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DBE28-D4E7-81B4-9950-96671E262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B9813-2B69-3826-5C3D-FBCD5B152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BFEA3-03B7-CD11-753B-82B8DB0834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401075-A84B-DA7A-FFDA-AED5EFC614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7CE423-E91D-1737-471C-5C3757F489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D696B5-7F41-E1E1-9AA5-DE4D1610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AF8CDF-A9FE-E097-D226-83CAAB4FB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A9F116-B07E-23EE-5D77-DA37EA0CD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67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E9A2A-9795-6DCD-D830-8EF5CE81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22961-5229-99AC-C666-9F2FE85A1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456D63-BCA1-3CA6-6BF7-E0DA9BA2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CB351-A2B2-D65A-FE7C-8EF486A9F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258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E701B2-6AC7-B106-E615-741B157A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3C0936-6744-3CD1-E2E7-58EE775FA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95CBD-FAF1-5757-48A6-B9087D27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993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EF14-9164-0409-180D-EA7839EC3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822BB-6078-9A67-5E54-A076D652B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AD387-174F-FD0E-4871-F77BAA5B3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EB6556-21C3-3D8E-53B4-7B8EFC18E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65CBC-55CE-3F9A-7647-B44CE41FB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F23EBE-9D6E-B6E8-05DD-47067ACC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0900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ECF1-B1F7-4738-E953-B9E943C5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5D10D4-3CE6-5BDC-D3BE-517A537D01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2CFFD-9934-642A-6A44-A1B3DEA9C5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F73557-B5FA-CBAE-2B37-EC5AD7FBB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399043-500A-ADDF-59BF-5E4A9E09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0BCB2-41B3-D90E-AF1C-158E6BC63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7877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CDE53-0734-F677-9FDE-052AA7598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55C323-3C4C-60C6-704D-53EE99ED6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5C3C2-3E83-CA2C-FEB4-C2617433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97B34-590C-E6D1-2C29-0A1AE9E28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8D643-565A-ECAD-147E-466FD1F38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157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4607AB-05F6-F0DA-F4B4-E180EF4472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0EF05D-395D-0F9B-9AD5-45823747DD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1D0F8-1B61-C299-865B-C2ADBB34C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BF06A-EAA1-D76C-1994-35BF4ED3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F0F69-D449-9DE9-4D42-EA2EE02C6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2399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F92244-C285-246D-1BE1-9D9F04981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9B711-A435-D9E6-6D03-2D611A20C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6D21C-D77F-1331-A34C-733EFBF2A7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26049-C0F2-49D4-8CC1-1C79E76B9D77}" type="datetimeFigureOut">
              <a:rPr lang="zh-CN" altLang="en-US" smtClean="0"/>
              <a:t>2025/2/24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B5F75-CA10-6610-EE29-91B7873AEB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227F9-126D-F7E5-3C9F-1EFD9113D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6931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Rectangle: Rounded Corners 484">
            <a:extLst>
              <a:ext uri="{FF2B5EF4-FFF2-40B4-BE49-F238E27FC236}">
                <a16:creationId xmlns:a16="http://schemas.microsoft.com/office/drawing/2014/main" id="{BC2F83A9-5141-BF26-65D0-92315BB8C368}"/>
              </a:ext>
            </a:extLst>
          </p:cNvPr>
          <p:cNvSpPr/>
          <p:nvPr/>
        </p:nvSpPr>
        <p:spPr>
          <a:xfrm>
            <a:off x="1224935" y="3658262"/>
            <a:ext cx="3180368" cy="1177636"/>
          </a:xfrm>
          <a:prstGeom prst="roundRect">
            <a:avLst>
              <a:gd name="adj" fmla="val 2994"/>
            </a:avLst>
          </a:prstGeom>
          <a:solidFill>
            <a:srgbClr val="FCE1E0">
              <a:alpha val="60000"/>
            </a:srgb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6" name="Rectangle: Rounded Corners 415">
            <a:extLst>
              <a:ext uri="{FF2B5EF4-FFF2-40B4-BE49-F238E27FC236}">
                <a16:creationId xmlns:a16="http://schemas.microsoft.com/office/drawing/2014/main" id="{2A1A8879-D3E2-8747-3B60-DECBA6FE064F}"/>
              </a:ext>
            </a:extLst>
          </p:cNvPr>
          <p:cNvSpPr/>
          <p:nvPr/>
        </p:nvSpPr>
        <p:spPr>
          <a:xfrm>
            <a:off x="8500462" y="574187"/>
            <a:ext cx="2129152" cy="3814575"/>
          </a:xfrm>
          <a:prstGeom prst="roundRect">
            <a:avLst>
              <a:gd name="adj" fmla="val 2994"/>
            </a:avLst>
          </a:prstGeom>
          <a:solidFill>
            <a:schemeClr val="bg1">
              <a:alpha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FBA64F-F329-5817-B467-17BBDADE0462}"/>
              </a:ext>
            </a:extLst>
          </p:cNvPr>
          <p:cNvSpPr txBox="1"/>
          <p:nvPr/>
        </p:nvSpPr>
        <p:spPr>
          <a:xfrm>
            <a:off x="9842341" y="1983847"/>
            <a:ext cx="927742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Equi-VAE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0D56C83-AA50-73C5-A0E5-8C07E754470B}"/>
                  </a:ext>
                </a:extLst>
              </p:cNvPr>
              <p:cNvSpPr txBox="1"/>
              <p:nvPr/>
            </p:nvSpPr>
            <p:spPr>
              <a:xfrm>
                <a:off x="9057570" y="183089"/>
                <a:ext cx="784771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{|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𝑛𝑘</m:t>
                          </m:r>
                        </m:sub>
                      </m:sSub>
                      <m:r>
                        <a:rPr lang="zh-CN" alt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0D56C83-AA50-73C5-A0E5-8C07E754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7570" y="183089"/>
                <a:ext cx="784771" cy="215444"/>
              </a:xfrm>
              <a:prstGeom prst="rect">
                <a:avLst/>
              </a:prstGeom>
              <a:blipFill>
                <a:blip r:embed="rId2"/>
                <a:stretch>
                  <a:fillRect l="-10853" t="-2857" r="-25581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" name="Flowchart: Or 162">
            <a:extLst>
              <a:ext uri="{FF2B5EF4-FFF2-40B4-BE49-F238E27FC236}">
                <a16:creationId xmlns:a16="http://schemas.microsoft.com/office/drawing/2014/main" id="{281E9742-9BC6-333B-BFB9-F6A70ADCD8E5}"/>
              </a:ext>
            </a:extLst>
          </p:cNvPr>
          <p:cNvSpPr/>
          <p:nvPr/>
        </p:nvSpPr>
        <p:spPr>
          <a:xfrm>
            <a:off x="4071920" y="4130677"/>
            <a:ext cx="170886" cy="170886"/>
          </a:xfrm>
          <a:prstGeom prst="flowChar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A1697BF7-BA21-8A35-2FF9-D35904D53286}"/>
              </a:ext>
            </a:extLst>
          </p:cNvPr>
          <p:cNvGrpSpPr/>
          <p:nvPr/>
        </p:nvGrpSpPr>
        <p:grpSpPr>
          <a:xfrm>
            <a:off x="3598299" y="66881"/>
            <a:ext cx="1744898" cy="3537832"/>
            <a:chOff x="6058946" y="1612450"/>
            <a:chExt cx="1744898" cy="3537832"/>
          </a:xfrm>
        </p:grpSpPr>
        <p:grpSp>
          <p:nvGrpSpPr>
            <p:cNvPr id="299" name="Group 298">
              <a:extLst>
                <a:ext uri="{FF2B5EF4-FFF2-40B4-BE49-F238E27FC236}">
                  <a16:creationId xmlns:a16="http://schemas.microsoft.com/office/drawing/2014/main" id="{0EFA6DDB-DDFA-9F84-7068-2D5A1B3814D6}"/>
                </a:ext>
              </a:extLst>
            </p:cNvPr>
            <p:cNvGrpSpPr/>
            <p:nvPr/>
          </p:nvGrpSpPr>
          <p:grpSpPr>
            <a:xfrm>
              <a:off x="6058946" y="1930400"/>
              <a:ext cx="1744898" cy="3219882"/>
              <a:chOff x="6252510" y="1930400"/>
              <a:chExt cx="1744898" cy="3219882"/>
            </a:xfrm>
          </p:grpSpPr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8F3F49B6-3DC1-EFA3-574C-39771027856A}"/>
                  </a:ext>
                </a:extLst>
              </p:cNvPr>
              <p:cNvGrpSpPr/>
              <p:nvPr/>
            </p:nvGrpSpPr>
            <p:grpSpPr>
              <a:xfrm>
                <a:off x="6252510" y="2051049"/>
                <a:ext cx="1744898" cy="2698703"/>
                <a:chOff x="4580345" y="2988154"/>
                <a:chExt cx="1919928" cy="2508405"/>
              </a:xfrm>
            </p:grpSpPr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28E3F488-9951-BA42-2CA8-A069F1CB6524}"/>
                    </a:ext>
                  </a:extLst>
                </p:cNvPr>
                <p:cNvSpPr/>
                <p:nvPr/>
              </p:nvSpPr>
              <p:spPr>
                <a:xfrm>
                  <a:off x="4718993" y="3021968"/>
                  <a:ext cx="1781280" cy="2474591"/>
                </a:xfrm>
                <a:prstGeom prst="roundRect">
                  <a:avLst>
                    <a:gd name="adj" fmla="val 2994"/>
                  </a:avLst>
                </a:prstGeom>
                <a:solidFill>
                  <a:schemeClr val="bg1">
                    <a:alpha val="60000"/>
                  </a:schemeClr>
                </a:solidFill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DB3B169F-64F8-D63C-5539-C6395A7C1652}"/>
                    </a:ext>
                  </a:extLst>
                </p:cNvPr>
                <p:cNvSpPr txBox="1"/>
                <p:nvPr/>
              </p:nvSpPr>
              <p:spPr>
                <a:xfrm>
                  <a:off x="4580345" y="2988154"/>
                  <a:ext cx="1357838" cy="41368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Ground-State </a:t>
                  </a:r>
                </a:p>
                <a:p>
                  <a:pPr algn="ctr"/>
                  <a:r>
                    <a:rPr lang="en-US" altLang="zh-CN" sz="1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Encoder</a:t>
                  </a:r>
                  <a:endParaRPr lang="zh-CN" altLang="en-US" sz="12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2986504B-AD74-EC6B-02AD-62F09B15FF82}"/>
                  </a:ext>
                </a:extLst>
              </p:cNvPr>
              <p:cNvSpPr/>
              <p:nvPr/>
            </p:nvSpPr>
            <p:spPr>
              <a:xfrm>
                <a:off x="6515723" y="3985735"/>
                <a:ext cx="1234051" cy="415912"/>
              </a:xfrm>
              <a:prstGeom prst="roundRect">
                <a:avLst/>
              </a:prstGeom>
              <a:solidFill>
                <a:srgbClr val="FFECA9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Multi-Head Self-Attention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F12503F-7739-2517-E7F0-836EF6F2F942}"/>
                  </a:ext>
                </a:extLst>
              </p:cNvPr>
              <p:cNvSpPr/>
              <p:nvPr/>
            </p:nvSpPr>
            <p:spPr>
              <a:xfrm>
                <a:off x="6575714" y="3562760"/>
                <a:ext cx="1105781" cy="264583"/>
              </a:xfrm>
              <a:prstGeom prst="roundRect">
                <a:avLst/>
              </a:prstGeom>
              <a:solidFill>
                <a:srgbClr val="C7E8AC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Add &amp; Norm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5102CDA6-A848-594C-CE0B-D6E2013BCBD8}"/>
                  </a:ext>
                </a:extLst>
              </p:cNvPr>
              <p:cNvSpPr/>
              <p:nvPr/>
            </p:nvSpPr>
            <p:spPr>
              <a:xfrm rot="16200000">
                <a:off x="6971633" y="3832048"/>
                <a:ext cx="1012979" cy="699033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3186 w 1064986"/>
                  <a:gd name="connsiteY0" fmla="*/ 215635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4985 w 1064986"/>
                  <a:gd name="connsiteY0" fmla="*/ 923005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1758 w 1064986"/>
                  <a:gd name="connsiteY0" fmla="*/ 912641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4986" h="1140955">
                    <a:moveTo>
                      <a:pt x="1061758" y="912641"/>
                    </a:moveTo>
                    <a:cubicBezTo>
                      <a:pt x="1061758" y="985291"/>
                      <a:pt x="1064986" y="1068305"/>
                      <a:pt x="1064986" y="1140955"/>
                    </a:cubicBezTo>
                    <a:lnTo>
                      <a:pt x="1025" y="1140955"/>
                    </a:lnTo>
                    <a:cubicBezTo>
                      <a:pt x="1025" y="896429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20FF17BA-A7F6-D8E7-8B91-78FFA9B757D1}"/>
                  </a:ext>
                </a:extLst>
              </p:cNvPr>
              <p:cNvGrpSpPr/>
              <p:nvPr/>
            </p:nvGrpSpPr>
            <p:grpSpPr>
              <a:xfrm>
                <a:off x="6738209" y="4401647"/>
                <a:ext cx="780788" cy="459657"/>
                <a:chOff x="5219935" y="5298417"/>
                <a:chExt cx="780788" cy="409803"/>
              </a:xfrm>
            </p:grpSpPr>
            <p:cxnSp>
              <p:nvCxnSpPr>
                <p:cNvPr id="78" name="Straight Arrow Connector 77">
                  <a:extLst>
                    <a:ext uri="{FF2B5EF4-FFF2-40B4-BE49-F238E27FC236}">
                      <a16:creationId xmlns:a16="http://schemas.microsoft.com/office/drawing/2014/main" id="{C03D7238-8C22-E04F-ADD7-AADC4E9B89D8}"/>
                    </a:ext>
                  </a:extLst>
                </p:cNvPr>
                <p:cNvCxnSpPr>
                  <a:cxnSpLocks/>
                  <a:endCxn id="65" idx="2"/>
                </p:cNvCxnSpPr>
                <p:nvPr/>
              </p:nvCxnSpPr>
              <p:spPr>
                <a:xfrm flipV="1">
                  <a:off x="5610331" y="5298417"/>
                  <a:ext cx="4144" cy="40980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1" name="Rectangle 107">
                  <a:extLst>
                    <a:ext uri="{FF2B5EF4-FFF2-40B4-BE49-F238E27FC236}">
                      <a16:creationId xmlns:a16="http://schemas.microsoft.com/office/drawing/2014/main" id="{6BDC7BC4-BAB7-974B-A858-90D4BD740F91}"/>
                    </a:ext>
                  </a:extLst>
                </p:cNvPr>
                <p:cNvSpPr/>
                <p:nvPr/>
              </p:nvSpPr>
              <p:spPr>
                <a:xfrm>
                  <a:off x="5219935" y="5304263"/>
                  <a:ext cx="780788" cy="169665"/>
                </a:xfrm>
                <a:custGeom>
                  <a:avLst/>
                  <a:gdLst>
                    <a:gd name="connsiteX0" fmla="*/ 0 w 1063961"/>
                    <a:gd name="connsiteY0" fmla="*/ 0 h 733578"/>
                    <a:gd name="connsiteX1" fmla="*/ 1063961 w 1063961"/>
                    <a:gd name="connsiteY1" fmla="*/ 0 h 733578"/>
                    <a:gd name="connsiteX2" fmla="*/ 1063961 w 1063961"/>
                    <a:gd name="connsiteY2" fmla="*/ 733578 h 733578"/>
                    <a:gd name="connsiteX3" fmla="*/ 0 w 1063961"/>
                    <a:gd name="connsiteY3" fmla="*/ 733578 h 733578"/>
                    <a:gd name="connsiteX4" fmla="*/ 0 w 1063961"/>
                    <a:gd name="connsiteY4" fmla="*/ 0 h 733578"/>
                    <a:gd name="connsiteX0" fmla="*/ 1063961 w 1063961"/>
                    <a:gd name="connsiteY0" fmla="*/ 0 h 733578"/>
                    <a:gd name="connsiteX1" fmla="*/ 1063961 w 1063961"/>
                    <a:gd name="connsiteY1" fmla="*/ 733578 h 733578"/>
                    <a:gd name="connsiteX2" fmla="*/ 0 w 1063961"/>
                    <a:gd name="connsiteY2" fmla="*/ 733578 h 733578"/>
                    <a:gd name="connsiteX3" fmla="*/ 91440 w 1063961"/>
                    <a:gd name="connsiteY3" fmla="*/ 91440 h 733578"/>
                    <a:gd name="connsiteX0" fmla="*/ 1063961 w 1063961"/>
                    <a:gd name="connsiteY0" fmla="*/ 0 h 733578"/>
                    <a:gd name="connsiteX1" fmla="*/ 1063961 w 1063961"/>
                    <a:gd name="connsiteY1" fmla="*/ 733578 h 733578"/>
                    <a:gd name="connsiteX2" fmla="*/ 0 w 1063961"/>
                    <a:gd name="connsiteY2" fmla="*/ 733578 h 733578"/>
                    <a:gd name="connsiteX3" fmla="*/ 2540 w 1063961"/>
                    <a:gd name="connsiteY3" fmla="*/ 49106 h 733578"/>
                    <a:gd name="connsiteX0" fmla="*/ 1063961 w 1063961"/>
                    <a:gd name="connsiteY0" fmla="*/ 3991 h 737569"/>
                    <a:gd name="connsiteX1" fmla="*/ 1063961 w 1063961"/>
                    <a:gd name="connsiteY1" fmla="*/ 737569 h 737569"/>
                    <a:gd name="connsiteX2" fmla="*/ 0 w 1063961"/>
                    <a:gd name="connsiteY2" fmla="*/ 737569 h 737569"/>
                    <a:gd name="connsiteX3" fmla="*/ 6790 w 1063961"/>
                    <a:gd name="connsiteY3" fmla="*/ 0 h 737569"/>
                    <a:gd name="connsiteX0" fmla="*/ 1063961 w 1063961"/>
                    <a:gd name="connsiteY0" fmla="*/ 2180 h 735758"/>
                    <a:gd name="connsiteX1" fmla="*/ 1063961 w 1063961"/>
                    <a:gd name="connsiteY1" fmla="*/ 735758 h 735758"/>
                    <a:gd name="connsiteX2" fmla="*/ 0 w 1063961"/>
                    <a:gd name="connsiteY2" fmla="*/ 735758 h 735758"/>
                    <a:gd name="connsiteX3" fmla="*/ 415 w 1063961"/>
                    <a:gd name="connsiteY3" fmla="*/ 0 h 735758"/>
                    <a:gd name="connsiteX0" fmla="*/ 1063961 w 1063961"/>
                    <a:gd name="connsiteY0" fmla="*/ 197473 h 931051"/>
                    <a:gd name="connsiteX1" fmla="*/ 1063961 w 1063961"/>
                    <a:gd name="connsiteY1" fmla="*/ 931051 h 931051"/>
                    <a:gd name="connsiteX2" fmla="*/ 0 w 1063961"/>
                    <a:gd name="connsiteY2" fmla="*/ 931051 h 931051"/>
                    <a:gd name="connsiteX3" fmla="*/ 415 w 1063961"/>
                    <a:gd name="connsiteY3" fmla="*/ 0 h 931051"/>
                    <a:gd name="connsiteX0" fmla="*/ 1064986 w 1064986"/>
                    <a:gd name="connsiteY0" fmla="*/ 407377 h 1140955"/>
                    <a:gd name="connsiteX1" fmla="*/ 1064986 w 1064986"/>
                    <a:gd name="connsiteY1" fmla="*/ 1140955 h 1140955"/>
                    <a:gd name="connsiteX2" fmla="*/ 1025 w 1064986"/>
                    <a:gd name="connsiteY2" fmla="*/ 1140955 h 1140955"/>
                    <a:gd name="connsiteX3" fmla="*/ 0 w 1064986"/>
                    <a:gd name="connsiteY3" fmla="*/ 0 h 1140955"/>
                    <a:gd name="connsiteX0" fmla="*/ 1067155 w 1067155"/>
                    <a:gd name="connsiteY0" fmla="*/ -1 h 733577"/>
                    <a:gd name="connsiteX1" fmla="*/ 1067155 w 1067155"/>
                    <a:gd name="connsiteY1" fmla="*/ 733577 h 733577"/>
                    <a:gd name="connsiteX2" fmla="*/ 3194 w 1067155"/>
                    <a:gd name="connsiteY2" fmla="*/ 733577 h 733577"/>
                    <a:gd name="connsiteX3" fmla="*/ 0 w 1067155"/>
                    <a:gd name="connsiteY3" fmla="*/ 84111 h 733577"/>
                    <a:gd name="connsiteX0" fmla="*/ 1067155 w 1067155"/>
                    <a:gd name="connsiteY0" fmla="*/ 8990 h 742568"/>
                    <a:gd name="connsiteX1" fmla="*/ 1067155 w 1067155"/>
                    <a:gd name="connsiteY1" fmla="*/ 742568 h 742568"/>
                    <a:gd name="connsiteX2" fmla="*/ 3194 w 1067155"/>
                    <a:gd name="connsiteY2" fmla="*/ 742568 h 742568"/>
                    <a:gd name="connsiteX3" fmla="*/ 0 w 1067155"/>
                    <a:gd name="connsiteY3" fmla="*/ 0 h 742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67155" h="742568">
                      <a:moveTo>
                        <a:pt x="1067155" y="8990"/>
                      </a:moveTo>
                      <a:lnTo>
                        <a:pt x="1067155" y="742568"/>
                      </a:lnTo>
                      <a:lnTo>
                        <a:pt x="3194" y="742568"/>
                      </a:lnTo>
                      <a:cubicBezTo>
                        <a:pt x="3194" y="498042"/>
                        <a:pt x="0" y="0"/>
                        <a:pt x="0" y="0"/>
                      </a:cubicBezTo>
                    </a:path>
                  </a:pathLst>
                </a:custGeom>
                <a:noFill/>
                <a:ln>
                  <a:headEnd type="triangle"/>
                  <a:tailEnd type="triangle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cxnSp>
            <p:nvCxnSpPr>
              <p:cNvPr id="135" name="Straight Arrow Connector 134">
                <a:extLst>
                  <a:ext uri="{FF2B5EF4-FFF2-40B4-BE49-F238E27FC236}">
                    <a16:creationId xmlns:a16="http://schemas.microsoft.com/office/drawing/2014/main" id="{2057BC40-761F-E1DB-224B-90B21A1B3079}"/>
                  </a:ext>
                </a:extLst>
              </p:cNvPr>
              <p:cNvCxnSpPr>
                <a:cxnSpLocks/>
                <a:stCxn id="65" idx="0"/>
                <a:endCxn id="6" idx="2"/>
              </p:cNvCxnSpPr>
              <p:nvPr/>
            </p:nvCxnSpPr>
            <p:spPr>
              <a:xfrm flipH="1" flipV="1">
                <a:off x="7128605" y="3827343"/>
                <a:ext cx="4144" cy="15839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" name="Rectangle: Rounded Corners 150">
                <a:extLst>
                  <a:ext uri="{FF2B5EF4-FFF2-40B4-BE49-F238E27FC236}">
                    <a16:creationId xmlns:a16="http://schemas.microsoft.com/office/drawing/2014/main" id="{FFC1A445-029E-5F62-C5F8-E45C18449E50}"/>
                  </a:ext>
                </a:extLst>
              </p:cNvPr>
              <p:cNvSpPr/>
              <p:nvPr/>
            </p:nvSpPr>
            <p:spPr>
              <a:xfrm>
                <a:off x="6524162" y="2891221"/>
                <a:ext cx="1234051" cy="415912"/>
              </a:xfrm>
              <a:prstGeom prst="roundRect">
                <a:avLst/>
              </a:prstGeom>
              <a:solidFill>
                <a:srgbClr val="C2E8F7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Feed</a:t>
                </a:r>
              </a:p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Forward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Rectangle: Rounded Corners 151">
                <a:extLst>
                  <a:ext uri="{FF2B5EF4-FFF2-40B4-BE49-F238E27FC236}">
                    <a16:creationId xmlns:a16="http://schemas.microsoft.com/office/drawing/2014/main" id="{DD40C029-B441-815B-E91C-2340ED65F69B}"/>
                  </a:ext>
                </a:extLst>
              </p:cNvPr>
              <p:cNvSpPr/>
              <p:nvPr/>
            </p:nvSpPr>
            <p:spPr>
              <a:xfrm>
                <a:off x="6584153" y="2468246"/>
                <a:ext cx="1105781" cy="264583"/>
              </a:xfrm>
              <a:prstGeom prst="roundRect">
                <a:avLst/>
              </a:prstGeom>
              <a:solidFill>
                <a:srgbClr val="C7E8AC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Add &amp; Norm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Rectangle 107">
                <a:extLst>
                  <a:ext uri="{FF2B5EF4-FFF2-40B4-BE49-F238E27FC236}">
                    <a16:creationId xmlns:a16="http://schemas.microsoft.com/office/drawing/2014/main" id="{730D4C31-B542-BF35-E919-FD783D200754}"/>
                  </a:ext>
                </a:extLst>
              </p:cNvPr>
              <p:cNvSpPr/>
              <p:nvPr/>
            </p:nvSpPr>
            <p:spPr>
              <a:xfrm rot="16200000">
                <a:off x="7051238" y="2666367"/>
                <a:ext cx="870648" cy="699033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3186 w 1064986"/>
                  <a:gd name="connsiteY0" fmla="*/ 215635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4985 w 1064986"/>
                  <a:gd name="connsiteY0" fmla="*/ 923005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1758 w 1064986"/>
                  <a:gd name="connsiteY0" fmla="*/ 912641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4986" h="1140955">
                    <a:moveTo>
                      <a:pt x="1061758" y="912641"/>
                    </a:moveTo>
                    <a:cubicBezTo>
                      <a:pt x="1061758" y="985291"/>
                      <a:pt x="1064986" y="1068305"/>
                      <a:pt x="1064986" y="1140955"/>
                    </a:cubicBezTo>
                    <a:lnTo>
                      <a:pt x="1025" y="1140955"/>
                    </a:lnTo>
                    <a:cubicBezTo>
                      <a:pt x="1025" y="896429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7" name="Straight Arrow Connector 156">
                <a:extLst>
                  <a:ext uri="{FF2B5EF4-FFF2-40B4-BE49-F238E27FC236}">
                    <a16:creationId xmlns:a16="http://schemas.microsoft.com/office/drawing/2014/main" id="{3653D591-4AEB-1000-BEE3-8AC145467EC6}"/>
                  </a:ext>
                </a:extLst>
              </p:cNvPr>
              <p:cNvCxnSpPr>
                <a:cxnSpLocks/>
                <a:stCxn id="151" idx="0"/>
                <a:endCxn id="152" idx="2"/>
              </p:cNvCxnSpPr>
              <p:nvPr/>
            </p:nvCxnSpPr>
            <p:spPr>
              <a:xfrm flipH="1" flipV="1">
                <a:off x="7137044" y="2732829"/>
                <a:ext cx="4144" cy="15839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Arrow Connector 159">
                <a:extLst>
                  <a:ext uri="{FF2B5EF4-FFF2-40B4-BE49-F238E27FC236}">
                    <a16:creationId xmlns:a16="http://schemas.microsoft.com/office/drawing/2014/main" id="{FB412CAD-B0BF-CEEB-FE5E-AFD1E9DE1F27}"/>
                  </a:ext>
                </a:extLst>
              </p:cNvPr>
              <p:cNvCxnSpPr>
                <a:cxnSpLocks/>
                <a:stCxn id="6" idx="0"/>
              </p:cNvCxnSpPr>
              <p:nvPr/>
            </p:nvCxnSpPr>
            <p:spPr>
              <a:xfrm flipV="1">
                <a:off x="7128605" y="3304650"/>
                <a:ext cx="0" cy="25811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1F856EA6-5AB9-BBF1-97F6-BA4FA19F7620}"/>
                      </a:ext>
                    </a:extLst>
                  </p:cNvPr>
                  <p:cNvSpPr txBox="1"/>
                  <p:nvPr/>
                </p:nvSpPr>
                <p:spPr>
                  <a:xfrm>
                    <a:off x="6890532" y="4825257"/>
                    <a:ext cx="523605" cy="32502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{</m:t>
                              </m:r>
                              <m:r>
                                <a:rPr lang="en-US" altLang="zh-CN" sz="1400" b="1" i="1" dirty="0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CN" sz="1400" b="0" i="1" dirty="0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p>
                          </m:sSub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}</m:t>
                          </m:r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1F856EA6-5AB9-BBF1-97F6-BA4FA19F7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90532" y="4825257"/>
                    <a:ext cx="523605" cy="32502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943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7" name="Straight Arrow Connector 286">
                <a:extLst>
                  <a:ext uri="{FF2B5EF4-FFF2-40B4-BE49-F238E27FC236}">
                    <a16:creationId xmlns:a16="http://schemas.microsoft.com/office/drawing/2014/main" id="{276330E8-F281-962C-0848-3124A91BCA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6081" y="1930400"/>
                <a:ext cx="0" cy="52682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E6670C5E-C662-6BD7-9E2A-AF78B6C39100}"/>
                    </a:ext>
                  </a:extLst>
                </p:cNvPr>
                <p:cNvSpPr txBox="1"/>
                <p:nvPr/>
              </p:nvSpPr>
              <p:spPr>
                <a:xfrm>
                  <a:off x="6883736" y="1612450"/>
                  <a:ext cx="693523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E6670C5E-C662-6BD7-9E2A-AF78B6C39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3736" y="1612450"/>
                  <a:ext cx="693523" cy="325025"/>
                </a:xfrm>
                <a:prstGeom prst="rect">
                  <a:avLst/>
                </a:prstGeom>
                <a:blipFill>
                  <a:blip r:embed="rId4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2595B17F-A3FD-F06F-C122-D349BDB7F799}"/>
              </a:ext>
            </a:extLst>
          </p:cNvPr>
          <p:cNvGrpSpPr/>
          <p:nvPr/>
        </p:nvGrpSpPr>
        <p:grpSpPr>
          <a:xfrm>
            <a:off x="5480772" y="101190"/>
            <a:ext cx="3036280" cy="4752077"/>
            <a:chOff x="7935308" y="427146"/>
            <a:chExt cx="3036280" cy="4752077"/>
          </a:xfrm>
        </p:grpSpPr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D5AE39B5-5794-80DB-A6A0-7A3BF7664A1A}"/>
                </a:ext>
              </a:extLst>
            </p:cNvPr>
            <p:cNvGrpSpPr/>
            <p:nvPr/>
          </p:nvGrpSpPr>
          <p:grpSpPr>
            <a:xfrm>
              <a:off x="8423908" y="870560"/>
              <a:ext cx="1916871" cy="3886811"/>
              <a:chOff x="4367736" y="3000920"/>
              <a:chExt cx="2132537" cy="2495639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94F7A00E-2D30-0A79-24F8-00EE9701F36F}"/>
                  </a:ext>
                </a:extLst>
              </p:cNvPr>
              <p:cNvSpPr/>
              <p:nvPr/>
            </p:nvSpPr>
            <p:spPr>
              <a:xfrm>
                <a:off x="4593903" y="3021968"/>
                <a:ext cx="1906370" cy="2474591"/>
              </a:xfrm>
              <a:prstGeom prst="roundRect">
                <a:avLst>
                  <a:gd name="adj" fmla="val 2994"/>
                </a:avLst>
              </a:prstGeom>
              <a:solidFill>
                <a:schemeClr val="bg1">
                  <a:alpha val="60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C690136-FBA8-9795-8C6E-A2879B74F871}"/>
                  </a:ext>
                </a:extLst>
              </p:cNvPr>
              <p:cNvSpPr txBox="1"/>
              <p:nvPr/>
            </p:nvSpPr>
            <p:spPr>
              <a:xfrm>
                <a:off x="4367736" y="3000920"/>
                <a:ext cx="1357838" cy="296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Many-Body Decoder</a:t>
                </a:r>
                <a:endParaRPr lang="zh-CN" alt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7B458638-A7D9-9FA1-681B-910D0A71FE13}"/>
                </a:ext>
              </a:extLst>
            </p:cNvPr>
            <p:cNvCxnSpPr>
              <a:cxnSpLocks/>
              <a:stCxn id="199" idx="3"/>
            </p:cNvCxnSpPr>
            <p:nvPr/>
          </p:nvCxnSpPr>
          <p:spPr>
            <a:xfrm>
              <a:off x="10093143" y="4201308"/>
              <a:ext cx="45365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686A825C-C996-B499-08A9-F457E6BF3558}"/>
                </a:ext>
              </a:extLst>
            </p:cNvPr>
            <p:cNvSpPr/>
            <p:nvPr/>
          </p:nvSpPr>
          <p:spPr>
            <a:xfrm>
              <a:off x="8859092" y="3993352"/>
              <a:ext cx="1234051" cy="415912"/>
            </a:xfrm>
            <a:prstGeom prst="roundRect">
              <a:avLst/>
            </a:prstGeom>
            <a:solidFill>
              <a:srgbClr val="FFECA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Self-Attention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0" name="Rectangle: Rounded Corners 199">
              <a:extLst>
                <a:ext uri="{FF2B5EF4-FFF2-40B4-BE49-F238E27FC236}">
                  <a16:creationId xmlns:a16="http://schemas.microsoft.com/office/drawing/2014/main" id="{DDA9A6CA-080B-992F-571A-D24E86235C88}"/>
                </a:ext>
              </a:extLst>
            </p:cNvPr>
            <p:cNvSpPr/>
            <p:nvPr/>
          </p:nvSpPr>
          <p:spPr>
            <a:xfrm>
              <a:off x="8919083" y="3570377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3" name="Rectangle 107">
              <a:extLst>
                <a:ext uri="{FF2B5EF4-FFF2-40B4-BE49-F238E27FC236}">
                  <a16:creationId xmlns:a16="http://schemas.microsoft.com/office/drawing/2014/main" id="{6CCCE0BD-52A7-75BD-137B-0ABA1A191023}"/>
                </a:ext>
              </a:extLst>
            </p:cNvPr>
            <p:cNvSpPr/>
            <p:nvPr/>
          </p:nvSpPr>
          <p:spPr>
            <a:xfrm rot="16200000">
              <a:off x="9315002" y="3839665"/>
              <a:ext cx="1012979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D649F919-6939-6658-FF3B-33963A645E95}"/>
                </a:ext>
              </a:extLst>
            </p:cNvPr>
            <p:cNvGrpSpPr/>
            <p:nvPr/>
          </p:nvGrpSpPr>
          <p:grpSpPr>
            <a:xfrm>
              <a:off x="9090641" y="4409264"/>
              <a:ext cx="780788" cy="485374"/>
              <a:chOff x="5219935" y="5299684"/>
              <a:chExt cx="780788" cy="409803"/>
            </a:xfrm>
          </p:grpSpPr>
          <p:cxnSp>
            <p:nvCxnSpPr>
              <p:cNvPr id="213" name="Straight Arrow Connector 212">
                <a:extLst>
                  <a:ext uri="{FF2B5EF4-FFF2-40B4-BE49-F238E27FC236}">
                    <a16:creationId xmlns:a16="http://schemas.microsoft.com/office/drawing/2014/main" id="{FC162882-DE10-8183-2D52-E485B9F3868C}"/>
                  </a:ext>
                </a:extLst>
              </p:cNvPr>
              <p:cNvCxnSpPr>
                <a:cxnSpLocks/>
                <a:endCxn id="199" idx="2"/>
              </p:cNvCxnSpPr>
              <p:nvPr/>
            </p:nvCxnSpPr>
            <p:spPr>
              <a:xfrm flipV="1">
                <a:off x="5601268" y="5299684"/>
                <a:ext cx="4144" cy="40980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4" name="Rectangle 107">
                <a:extLst>
                  <a:ext uri="{FF2B5EF4-FFF2-40B4-BE49-F238E27FC236}">
                    <a16:creationId xmlns:a16="http://schemas.microsoft.com/office/drawing/2014/main" id="{DBDD3659-1DBC-F761-1518-3AB3D04383F7}"/>
                  </a:ext>
                </a:extLst>
              </p:cNvPr>
              <p:cNvSpPr/>
              <p:nvPr/>
            </p:nvSpPr>
            <p:spPr>
              <a:xfrm>
                <a:off x="5219935" y="5304263"/>
                <a:ext cx="780788" cy="165584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502A95F8-0D56-5C63-1F9D-D87490D59793}"/>
                </a:ext>
              </a:extLst>
            </p:cNvPr>
            <p:cNvCxnSpPr>
              <a:cxnSpLocks/>
              <a:stCxn id="199" idx="0"/>
              <a:endCxn id="200" idx="2"/>
            </p:cNvCxnSpPr>
            <p:nvPr/>
          </p:nvCxnSpPr>
          <p:spPr>
            <a:xfrm flipH="1" flipV="1">
              <a:off x="9471974" y="3834960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B960276B-FAB9-3501-2064-FB6B5DB0FB4B}"/>
                </a:ext>
              </a:extLst>
            </p:cNvPr>
            <p:cNvSpPr/>
            <p:nvPr/>
          </p:nvSpPr>
          <p:spPr>
            <a:xfrm>
              <a:off x="8837630" y="2835065"/>
              <a:ext cx="1279214" cy="415912"/>
            </a:xfrm>
            <a:prstGeom prst="roundRect">
              <a:avLst/>
            </a:prstGeom>
            <a:solidFill>
              <a:srgbClr val="FDDA5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Cross-Attention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8" name="Rectangle: Rounded Corners 207">
              <a:extLst>
                <a:ext uri="{FF2B5EF4-FFF2-40B4-BE49-F238E27FC236}">
                  <a16:creationId xmlns:a16="http://schemas.microsoft.com/office/drawing/2014/main" id="{D11952AC-A4B7-46AB-390E-CD71C7B31B03}"/>
                </a:ext>
              </a:extLst>
            </p:cNvPr>
            <p:cNvSpPr/>
            <p:nvPr/>
          </p:nvSpPr>
          <p:spPr>
            <a:xfrm>
              <a:off x="8927522" y="2412090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9" name="Rectangle 107">
              <a:extLst>
                <a:ext uri="{FF2B5EF4-FFF2-40B4-BE49-F238E27FC236}">
                  <a16:creationId xmlns:a16="http://schemas.microsoft.com/office/drawing/2014/main" id="{5256C934-D13C-1664-852E-DE83E5413285}"/>
                </a:ext>
              </a:extLst>
            </p:cNvPr>
            <p:cNvSpPr/>
            <p:nvPr/>
          </p:nvSpPr>
          <p:spPr>
            <a:xfrm rot="16200000">
              <a:off x="9373611" y="2694981"/>
              <a:ext cx="912642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EB4BE956-65CE-6A95-E6DB-5B5EB58E08CF}"/>
                </a:ext>
              </a:extLst>
            </p:cNvPr>
            <p:cNvCxnSpPr>
              <a:cxnSpLocks/>
              <a:stCxn id="207" idx="0"/>
              <a:endCxn id="208" idx="2"/>
            </p:cNvCxnSpPr>
            <p:nvPr/>
          </p:nvCxnSpPr>
          <p:spPr>
            <a:xfrm flipV="1">
              <a:off x="9477237" y="2676673"/>
              <a:ext cx="3176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D8A7722D-ED58-82A0-008F-23BC1E5AFCF7}"/>
                </a:ext>
              </a:extLst>
            </p:cNvPr>
            <p:cNvCxnSpPr>
              <a:cxnSpLocks/>
              <a:stCxn id="200" idx="0"/>
            </p:cNvCxnSpPr>
            <p:nvPr/>
          </p:nvCxnSpPr>
          <p:spPr>
            <a:xfrm flipV="1">
              <a:off x="9471974" y="3430969"/>
              <a:ext cx="0" cy="13940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Arrow Connector 230">
              <a:extLst>
                <a:ext uri="{FF2B5EF4-FFF2-40B4-BE49-F238E27FC236}">
                  <a16:creationId xmlns:a16="http://schemas.microsoft.com/office/drawing/2014/main" id="{932E064F-B3D0-20ED-3CFE-F7D118F601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21491" y="3255389"/>
              <a:ext cx="0" cy="1755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2901637A-41EC-3784-541D-08A2E4C42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64031" y="3433109"/>
              <a:ext cx="3597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442D6062-D196-AB41-379E-D6198C91D5A3}"/>
                </a:ext>
              </a:extLst>
            </p:cNvPr>
            <p:cNvGrpSpPr/>
            <p:nvPr/>
          </p:nvGrpSpPr>
          <p:grpSpPr>
            <a:xfrm>
              <a:off x="8537111" y="3242252"/>
              <a:ext cx="922158" cy="134175"/>
              <a:chOff x="4845136" y="3922908"/>
              <a:chExt cx="1128540" cy="134175"/>
            </a:xfrm>
          </p:grpSpPr>
          <p:sp>
            <p:nvSpPr>
              <p:cNvPr id="227" name="Rectangle 107">
                <a:extLst>
                  <a:ext uri="{FF2B5EF4-FFF2-40B4-BE49-F238E27FC236}">
                    <a16:creationId xmlns:a16="http://schemas.microsoft.com/office/drawing/2014/main" id="{8726E3A4-BFCC-D6D0-19B0-3CC4892B0846}"/>
                  </a:ext>
                </a:extLst>
              </p:cNvPr>
              <p:cNvSpPr/>
              <p:nvPr/>
            </p:nvSpPr>
            <p:spPr>
              <a:xfrm>
                <a:off x="5535913" y="3922908"/>
                <a:ext cx="437763" cy="13417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289AF0CE-DB4F-C997-ABFC-2A36560EE9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136" y="4056553"/>
                <a:ext cx="761124" cy="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2" name="Rectangle: Rounded Corners 251">
              <a:extLst>
                <a:ext uri="{FF2B5EF4-FFF2-40B4-BE49-F238E27FC236}">
                  <a16:creationId xmlns:a16="http://schemas.microsoft.com/office/drawing/2014/main" id="{AB3D5EFD-F830-80A3-A619-DE8D0D125F99}"/>
                </a:ext>
              </a:extLst>
            </p:cNvPr>
            <p:cNvSpPr/>
            <p:nvPr/>
          </p:nvSpPr>
          <p:spPr>
            <a:xfrm>
              <a:off x="8859092" y="1738434"/>
              <a:ext cx="1234051" cy="415912"/>
            </a:xfrm>
            <a:prstGeom prst="roundRect">
              <a:avLst/>
            </a:prstGeom>
            <a:solidFill>
              <a:srgbClr val="C2E8F7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Feed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Forward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3" name="Rectangle: Rounded Corners 252">
              <a:extLst>
                <a:ext uri="{FF2B5EF4-FFF2-40B4-BE49-F238E27FC236}">
                  <a16:creationId xmlns:a16="http://schemas.microsoft.com/office/drawing/2014/main" id="{92320143-ABD8-45CE-CAFF-CDC81B07F37D}"/>
                </a:ext>
              </a:extLst>
            </p:cNvPr>
            <p:cNvSpPr/>
            <p:nvPr/>
          </p:nvSpPr>
          <p:spPr>
            <a:xfrm>
              <a:off x="8919083" y="1315459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4" name="Rectangle 107">
              <a:extLst>
                <a:ext uri="{FF2B5EF4-FFF2-40B4-BE49-F238E27FC236}">
                  <a16:creationId xmlns:a16="http://schemas.microsoft.com/office/drawing/2014/main" id="{B1AD85E8-F85E-21E1-FA50-09C4BACD9ED7}"/>
                </a:ext>
              </a:extLst>
            </p:cNvPr>
            <p:cNvSpPr/>
            <p:nvPr/>
          </p:nvSpPr>
          <p:spPr>
            <a:xfrm rot="16200000">
              <a:off x="9386168" y="1513580"/>
              <a:ext cx="870648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5" name="Straight Arrow Connector 254">
              <a:extLst>
                <a:ext uri="{FF2B5EF4-FFF2-40B4-BE49-F238E27FC236}">
                  <a16:creationId xmlns:a16="http://schemas.microsoft.com/office/drawing/2014/main" id="{BC6EBB0C-C2D3-A1F8-67B1-D6CA0EFFA412}"/>
                </a:ext>
              </a:extLst>
            </p:cNvPr>
            <p:cNvCxnSpPr>
              <a:cxnSpLocks/>
              <a:stCxn id="252" idx="0"/>
              <a:endCxn id="253" idx="2"/>
            </p:cNvCxnSpPr>
            <p:nvPr/>
          </p:nvCxnSpPr>
          <p:spPr>
            <a:xfrm flipH="1" flipV="1">
              <a:off x="9471974" y="1580042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Arrow Connector 255">
              <a:extLst>
                <a:ext uri="{FF2B5EF4-FFF2-40B4-BE49-F238E27FC236}">
                  <a16:creationId xmlns:a16="http://schemas.microsoft.com/office/drawing/2014/main" id="{E234B720-B70C-B564-FE1F-219CEF00EF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63535" y="2151863"/>
              <a:ext cx="0" cy="258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Arrow Connector 265">
              <a:extLst>
                <a:ext uri="{FF2B5EF4-FFF2-40B4-BE49-F238E27FC236}">
                  <a16:creationId xmlns:a16="http://schemas.microsoft.com/office/drawing/2014/main" id="{B2B9ED05-F75E-FE93-9B02-6B60EF9F6B7A}"/>
                </a:ext>
              </a:extLst>
            </p:cNvPr>
            <p:cNvCxnSpPr>
              <a:cxnSpLocks/>
              <a:stCxn id="253" idx="0"/>
            </p:cNvCxnSpPr>
            <p:nvPr/>
          </p:nvCxnSpPr>
          <p:spPr>
            <a:xfrm flipV="1">
              <a:off x="9471974" y="745110"/>
              <a:ext cx="6851" cy="57034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CB0280F8-C299-4FEB-ED68-213460B5E6CB}"/>
                    </a:ext>
                  </a:extLst>
                </p:cNvPr>
                <p:cNvSpPr txBox="1"/>
                <p:nvPr/>
              </p:nvSpPr>
              <p:spPr>
                <a:xfrm>
                  <a:off x="10462666" y="4004515"/>
                  <a:ext cx="50892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CB0280F8-C299-4FEB-ED68-213460B5E6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62666" y="4004515"/>
                  <a:ext cx="508922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C5ADBB9E-DE78-E072-1E71-726C7DC6E23F}"/>
                    </a:ext>
                  </a:extLst>
                </p:cNvPr>
                <p:cNvSpPr txBox="1"/>
                <p:nvPr/>
              </p:nvSpPr>
              <p:spPr>
                <a:xfrm>
                  <a:off x="7935308" y="3187729"/>
                  <a:ext cx="69801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𝑛𝑘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𝑒𝑛𝑐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C5ADBB9E-DE78-E072-1E71-726C7DC6E2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5308" y="3187729"/>
                  <a:ext cx="698012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A3A13788-2085-9C29-8380-422A22CF4151}"/>
                    </a:ext>
                  </a:extLst>
                </p:cNvPr>
                <p:cNvSpPr txBox="1"/>
                <p:nvPr/>
              </p:nvSpPr>
              <p:spPr>
                <a:xfrm>
                  <a:off x="9234248" y="4854198"/>
                  <a:ext cx="523605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A3A13788-2085-9C29-8380-422A22CF41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34248" y="4854198"/>
                  <a:ext cx="523605" cy="325025"/>
                </a:xfrm>
                <a:prstGeom prst="rect">
                  <a:avLst/>
                </a:prstGeom>
                <a:blipFill>
                  <a:blip r:embed="rId7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4A9CCC1C-E844-9E52-5C10-825EEB69372F}"/>
                    </a:ext>
                  </a:extLst>
                </p:cNvPr>
                <p:cNvSpPr txBox="1"/>
                <p:nvPr/>
              </p:nvSpPr>
              <p:spPr>
                <a:xfrm>
                  <a:off x="9188761" y="427146"/>
                  <a:ext cx="693523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4A9CCC1C-E844-9E52-5C10-825EEB693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8761" y="427146"/>
                  <a:ext cx="693523" cy="325025"/>
                </a:xfrm>
                <a:prstGeom prst="rect">
                  <a:avLst/>
                </a:prstGeom>
                <a:blipFill>
                  <a:blip r:embed="rId8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04375840-4445-180F-3480-1A4A89EE6B7F}"/>
              </a:ext>
            </a:extLst>
          </p:cNvPr>
          <p:cNvGrpSpPr/>
          <p:nvPr/>
        </p:nvGrpSpPr>
        <p:grpSpPr>
          <a:xfrm>
            <a:off x="1919219" y="38959"/>
            <a:ext cx="1413180" cy="3391535"/>
            <a:chOff x="3090921" y="1823602"/>
            <a:chExt cx="1413180" cy="3391535"/>
          </a:xfrm>
        </p:grpSpPr>
        <p:sp>
          <p:nvSpPr>
            <p:cNvPr id="373" name="Rectangle: Rounded Corners 372">
              <a:extLst>
                <a:ext uri="{FF2B5EF4-FFF2-40B4-BE49-F238E27FC236}">
                  <a16:creationId xmlns:a16="http://schemas.microsoft.com/office/drawing/2014/main" id="{83D0137F-2E20-897F-483D-CFEEE8A9269D}"/>
                </a:ext>
              </a:extLst>
            </p:cNvPr>
            <p:cNvSpPr/>
            <p:nvPr/>
          </p:nvSpPr>
          <p:spPr>
            <a:xfrm>
              <a:off x="3134634" y="3477777"/>
              <a:ext cx="1234051" cy="471725"/>
            </a:xfrm>
            <a:prstGeom prst="roundRect">
              <a:avLst/>
            </a:prstGeom>
            <a:solidFill>
              <a:srgbClr val="E1F5D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Many-Body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Decoder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74" name="Straight Arrow Connector 373">
              <a:extLst>
                <a:ext uri="{FF2B5EF4-FFF2-40B4-BE49-F238E27FC236}">
                  <a16:creationId xmlns:a16="http://schemas.microsoft.com/office/drawing/2014/main" id="{C96BAE67-176B-1200-6CD5-02C5067BF3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12378" y="3143549"/>
              <a:ext cx="3014" cy="3486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EE198653-46FB-6841-79A0-248014381E63}"/>
                </a:ext>
              </a:extLst>
            </p:cNvPr>
            <p:cNvGrpSpPr/>
            <p:nvPr/>
          </p:nvGrpSpPr>
          <p:grpSpPr>
            <a:xfrm>
              <a:off x="3398240" y="3168813"/>
              <a:ext cx="752443" cy="276999"/>
              <a:chOff x="2546821" y="3362173"/>
              <a:chExt cx="752443" cy="276999"/>
            </a:xfrm>
          </p:grpSpPr>
          <p:pic>
            <p:nvPicPr>
              <p:cNvPr id="376" name="Picture 375">
                <a:extLst>
                  <a:ext uri="{FF2B5EF4-FFF2-40B4-BE49-F238E27FC236}">
                    <a16:creationId xmlns:a16="http://schemas.microsoft.com/office/drawing/2014/main" id="{8ADF1106-A16C-F553-5C85-DA398D3008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678834" y="3436504"/>
                <a:ext cx="466725" cy="143853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7" name="TextBox 376">
                    <a:extLst>
                      <a:ext uri="{FF2B5EF4-FFF2-40B4-BE49-F238E27FC236}">
                        <a16:creationId xmlns:a16="http://schemas.microsoft.com/office/drawing/2014/main" id="{EA946F91-CF23-F1D2-76A0-470427D6F18D}"/>
                      </a:ext>
                    </a:extLst>
                  </p:cNvPr>
                  <p:cNvSpPr txBox="1"/>
                  <p:nvPr/>
                </p:nvSpPr>
                <p:spPr>
                  <a:xfrm>
                    <a:off x="2546821" y="3362173"/>
                    <a:ext cx="752443" cy="27699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×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oMath>
                      </m:oMathPara>
                    </a14:m>
                    <a:endParaRPr lang="zh-CN" altLang="en-US" sz="12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>
              <p:sp>
                <p:nvSpPr>
                  <p:cNvPr id="377" name="TextBox 376">
                    <a:extLst>
                      <a:ext uri="{FF2B5EF4-FFF2-40B4-BE49-F238E27FC236}">
                        <a16:creationId xmlns:a16="http://schemas.microsoft.com/office/drawing/2014/main" id="{EA946F91-CF23-F1D2-76A0-470427D6F1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6821" y="3362173"/>
                    <a:ext cx="75244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78" name="Rectangle: Rounded Corners 377">
              <a:extLst>
                <a:ext uri="{FF2B5EF4-FFF2-40B4-BE49-F238E27FC236}">
                  <a16:creationId xmlns:a16="http://schemas.microsoft.com/office/drawing/2014/main" id="{7FA910A7-B3E0-7AFA-F5AF-26F0742EA1EE}"/>
                </a:ext>
              </a:extLst>
            </p:cNvPr>
            <p:cNvSpPr/>
            <p:nvPr/>
          </p:nvSpPr>
          <p:spPr>
            <a:xfrm>
              <a:off x="3120932" y="2655048"/>
              <a:ext cx="1234051" cy="471725"/>
            </a:xfrm>
            <a:prstGeom prst="roundRect">
              <a:avLst/>
            </a:prstGeom>
            <a:solidFill>
              <a:srgbClr val="E1F5D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Many-Body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Decoder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79" name="Rectangle: Rounded Corners 378">
              <a:extLst>
                <a:ext uri="{FF2B5EF4-FFF2-40B4-BE49-F238E27FC236}">
                  <a16:creationId xmlns:a16="http://schemas.microsoft.com/office/drawing/2014/main" id="{E6FD305B-4694-C297-5269-98E6444AE78A}"/>
                </a:ext>
              </a:extLst>
            </p:cNvPr>
            <p:cNvSpPr/>
            <p:nvPr/>
          </p:nvSpPr>
          <p:spPr>
            <a:xfrm>
              <a:off x="3119824" y="4125463"/>
              <a:ext cx="1234051" cy="264583"/>
            </a:xfrm>
            <a:prstGeom prst="roundRect">
              <a:avLst/>
            </a:prstGeom>
            <a:solidFill>
              <a:srgbClr val="FCE1E0">
                <a:alpha val="60000"/>
              </a:srgb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Embedder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80" name="Straight Arrow Connector 379">
              <a:extLst>
                <a:ext uri="{FF2B5EF4-FFF2-40B4-BE49-F238E27FC236}">
                  <a16:creationId xmlns:a16="http://schemas.microsoft.com/office/drawing/2014/main" id="{97E1D96A-F27C-CDFB-7AA4-B98AB2552A4C}"/>
                </a:ext>
              </a:extLst>
            </p:cNvPr>
            <p:cNvCxnSpPr>
              <a:cxnSpLocks/>
              <a:stCxn id="474" idx="0"/>
              <a:endCxn id="379" idx="2"/>
            </p:cNvCxnSpPr>
            <p:nvPr/>
          </p:nvCxnSpPr>
          <p:spPr>
            <a:xfrm flipV="1">
              <a:off x="3735424" y="4390046"/>
              <a:ext cx="1426" cy="1345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Arrow Connector 381">
              <a:extLst>
                <a:ext uri="{FF2B5EF4-FFF2-40B4-BE49-F238E27FC236}">
                  <a16:creationId xmlns:a16="http://schemas.microsoft.com/office/drawing/2014/main" id="{6E91BFDC-6FF4-3593-291A-90D107611E46}"/>
                </a:ext>
              </a:extLst>
            </p:cNvPr>
            <p:cNvCxnSpPr>
              <a:cxnSpLocks/>
              <a:stCxn id="379" idx="0"/>
            </p:cNvCxnSpPr>
            <p:nvPr/>
          </p:nvCxnSpPr>
          <p:spPr>
            <a:xfrm flipH="1" flipV="1">
              <a:off x="3735424" y="3949502"/>
              <a:ext cx="1426" cy="17596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6A626E0B-30F4-2057-245F-68BE5CB03595}"/>
                </a:ext>
              </a:extLst>
            </p:cNvPr>
            <p:cNvSpPr txBox="1"/>
            <p:nvPr/>
          </p:nvSpPr>
          <p:spPr>
            <a:xfrm>
              <a:off x="3134634" y="4938138"/>
              <a:ext cx="1234051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Query States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08CBBD54-F122-B9EE-2F64-72965E2F6F8C}"/>
                    </a:ext>
                  </a:extLst>
                </p:cNvPr>
                <p:cNvSpPr txBox="1"/>
                <p:nvPr/>
              </p:nvSpPr>
              <p:spPr>
                <a:xfrm>
                  <a:off x="3995179" y="2174372"/>
                  <a:ext cx="50892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08CBBD54-F122-B9EE-2F64-72965E2F6F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5179" y="2174372"/>
                  <a:ext cx="508922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2" name="Straight Arrow Connector 391">
              <a:extLst>
                <a:ext uri="{FF2B5EF4-FFF2-40B4-BE49-F238E27FC236}">
                  <a16:creationId xmlns:a16="http://schemas.microsoft.com/office/drawing/2014/main" id="{F0C90EF3-F424-E179-C7ED-2348E07B03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24080" y="2431497"/>
              <a:ext cx="0" cy="2091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Arrow Connector 395">
              <a:extLst>
                <a:ext uri="{FF2B5EF4-FFF2-40B4-BE49-F238E27FC236}">
                  <a16:creationId xmlns:a16="http://schemas.microsoft.com/office/drawing/2014/main" id="{08898B0F-D15E-013B-1A3E-A328797889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253" y="2484802"/>
              <a:ext cx="0" cy="1702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7" name="Rectangle: Rounded Corners 396">
              <a:extLst>
                <a:ext uri="{FF2B5EF4-FFF2-40B4-BE49-F238E27FC236}">
                  <a16:creationId xmlns:a16="http://schemas.microsoft.com/office/drawing/2014/main" id="{71154FBF-B145-3CA8-602F-179ACF8684C0}"/>
                </a:ext>
              </a:extLst>
            </p:cNvPr>
            <p:cNvSpPr/>
            <p:nvPr/>
          </p:nvSpPr>
          <p:spPr>
            <a:xfrm>
              <a:off x="3090921" y="2211164"/>
              <a:ext cx="832275" cy="264583"/>
            </a:xfrm>
            <a:prstGeom prst="roundRect">
              <a:avLst/>
            </a:prstGeom>
            <a:solidFill>
              <a:schemeClr val="bg2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Linear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98" name="Straight Arrow Connector 397">
              <a:extLst>
                <a:ext uri="{FF2B5EF4-FFF2-40B4-BE49-F238E27FC236}">
                  <a16:creationId xmlns:a16="http://schemas.microsoft.com/office/drawing/2014/main" id="{BC8E6F6B-0DED-B720-32AC-066E125040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1346" y="2070100"/>
              <a:ext cx="0" cy="1244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9" name="TextBox 398">
              <a:extLst>
                <a:ext uri="{FF2B5EF4-FFF2-40B4-BE49-F238E27FC236}">
                  <a16:creationId xmlns:a16="http://schemas.microsoft.com/office/drawing/2014/main" id="{C0175FE5-EEEC-EC26-8C7B-8BFF79C5B3DE}"/>
                </a:ext>
              </a:extLst>
            </p:cNvPr>
            <p:cNvSpPr txBox="1"/>
            <p:nvPr/>
          </p:nvSpPr>
          <p:spPr>
            <a:xfrm>
              <a:off x="3224720" y="1823602"/>
              <a:ext cx="6110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/>
                <a:t>Target</a:t>
              </a:r>
              <a:endParaRPr lang="zh-CN" altLang="en-US" sz="1200" dirty="0"/>
            </a:p>
          </p:txBody>
        </p:sp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44D403D0-1FC5-87D7-34F8-190E7D499046}"/>
              </a:ext>
            </a:extLst>
          </p:cNvPr>
          <p:cNvGrpSpPr/>
          <p:nvPr/>
        </p:nvGrpSpPr>
        <p:grpSpPr>
          <a:xfrm>
            <a:off x="17750" y="872804"/>
            <a:ext cx="2065206" cy="2580707"/>
            <a:chOff x="17750" y="872804"/>
            <a:chExt cx="2065206" cy="2580707"/>
          </a:xfrm>
        </p:grpSpPr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5CD9A01B-A7EE-DE12-A993-866631CA1799}"/>
                </a:ext>
              </a:extLst>
            </p:cNvPr>
            <p:cNvSpPr txBox="1"/>
            <p:nvPr/>
          </p:nvSpPr>
          <p:spPr>
            <a:xfrm>
              <a:off x="17750" y="2991846"/>
              <a:ext cx="206520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Input Ground-State Electronic Properties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04" name="Group 403">
              <a:extLst>
                <a:ext uri="{FF2B5EF4-FFF2-40B4-BE49-F238E27FC236}">
                  <a16:creationId xmlns:a16="http://schemas.microsoft.com/office/drawing/2014/main" id="{3937236D-324E-8EA8-ADC7-4222B216D4BA}"/>
                </a:ext>
              </a:extLst>
            </p:cNvPr>
            <p:cNvGrpSpPr/>
            <p:nvPr/>
          </p:nvGrpSpPr>
          <p:grpSpPr>
            <a:xfrm>
              <a:off x="335179" y="872804"/>
              <a:ext cx="1620493" cy="2183567"/>
              <a:chOff x="1506881" y="2657447"/>
              <a:chExt cx="1620493" cy="2183567"/>
            </a:xfrm>
          </p:grpSpPr>
          <p:sp>
            <p:nvSpPr>
              <p:cNvPr id="276" name="Rectangle: Rounded Corners 275">
                <a:extLst>
                  <a:ext uri="{FF2B5EF4-FFF2-40B4-BE49-F238E27FC236}">
                    <a16:creationId xmlns:a16="http://schemas.microsoft.com/office/drawing/2014/main" id="{107C6BC6-8318-4427-3B18-6B3B446F4AEE}"/>
                  </a:ext>
                </a:extLst>
              </p:cNvPr>
              <p:cNvSpPr/>
              <p:nvPr/>
            </p:nvSpPr>
            <p:spPr>
              <a:xfrm>
                <a:off x="1603303" y="4125463"/>
                <a:ext cx="1234051" cy="264583"/>
              </a:xfrm>
              <a:prstGeom prst="roundRect">
                <a:avLst/>
              </a:prstGeom>
              <a:solidFill>
                <a:srgbClr val="FCE1E0">
                  <a:alpha val="60000"/>
                </a:srgbClr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Embedder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78" name="Straight Arrow Connector 277">
                <a:extLst>
                  <a:ext uri="{FF2B5EF4-FFF2-40B4-BE49-F238E27FC236}">
                    <a16:creationId xmlns:a16="http://schemas.microsoft.com/office/drawing/2014/main" id="{BBAD5C3D-1DB5-1E90-61A7-7355BD0D336F}"/>
                  </a:ext>
                </a:extLst>
              </p:cNvPr>
              <p:cNvCxnSpPr>
                <a:cxnSpLocks/>
                <a:stCxn id="303" idx="0"/>
                <a:endCxn id="276" idx="2"/>
              </p:cNvCxnSpPr>
              <p:nvPr/>
            </p:nvCxnSpPr>
            <p:spPr>
              <a:xfrm flipV="1">
                <a:off x="2220329" y="4390046"/>
                <a:ext cx="0" cy="1431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" name="Rectangle: Rounded Corners 278">
                <a:extLst>
                  <a:ext uri="{FF2B5EF4-FFF2-40B4-BE49-F238E27FC236}">
                    <a16:creationId xmlns:a16="http://schemas.microsoft.com/office/drawing/2014/main" id="{574EDFEF-4450-4CB4-44A9-D48615D386B5}"/>
                  </a:ext>
                </a:extLst>
              </p:cNvPr>
              <p:cNvSpPr/>
              <p:nvPr/>
            </p:nvSpPr>
            <p:spPr>
              <a:xfrm>
                <a:off x="1601877" y="3477777"/>
                <a:ext cx="1234051" cy="471725"/>
              </a:xfrm>
              <a:prstGeom prst="roundRect">
                <a:avLst/>
              </a:prstGeom>
              <a:solidFill>
                <a:srgbClr val="F7FEFF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Ground-State</a:t>
                </a:r>
              </a:p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Encoder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BEEB7131-D278-90ED-E182-0D46B982A4F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6881" y="4533237"/>
                    <a:ext cx="1426895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{"/>
                              <m:endChr m:val="}"/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𝑛𝑘</m:t>
                                  </m:r>
                                </m:sub>
                              </m:sSub>
                              <m:r>
                                <a:rPr lang="zh-CN" alt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BEEB7131-D278-90ED-E182-0D46B982A4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6881" y="4533237"/>
                    <a:ext cx="1426895" cy="30777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4274" b="-8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1" name="Rectangle: Rounded Corners 310">
                <a:extLst>
                  <a:ext uri="{FF2B5EF4-FFF2-40B4-BE49-F238E27FC236}">
                    <a16:creationId xmlns:a16="http://schemas.microsoft.com/office/drawing/2014/main" id="{A9A5D1FD-5BF7-732A-6402-8F48EA4196AF}"/>
                  </a:ext>
                </a:extLst>
              </p:cNvPr>
              <p:cNvSpPr/>
              <p:nvPr/>
            </p:nvSpPr>
            <p:spPr>
              <a:xfrm>
                <a:off x="1598863" y="2657447"/>
                <a:ext cx="1234051" cy="471725"/>
              </a:xfrm>
              <a:prstGeom prst="roundRect">
                <a:avLst/>
              </a:prstGeom>
              <a:solidFill>
                <a:srgbClr val="F7FEFF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Ground-State</a:t>
                </a:r>
              </a:p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Encoder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13" name="Straight Arrow Connector 312">
                <a:extLst>
                  <a:ext uri="{FF2B5EF4-FFF2-40B4-BE49-F238E27FC236}">
                    <a16:creationId xmlns:a16="http://schemas.microsoft.com/office/drawing/2014/main" id="{D6231D78-7EF2-B6C5-A4DF-E6FE78D21AF1}"/>
                  </a:ext>
                </a:extLst>
              </p:cNvPr>
              <p:cNvCxnSpPr>
                <a:cxnSpLocks/>
                <a:stCxn id="276" idx="0"/>
                <a:endCxn id="279" idx="2"/>
              </p:cNvCxnSpPr>
              <p:nvPr/>
            </p:nvCxnSpPr>
            <p:spPr>
              <a:xfrm flipH="1" flipV="1">
                <a:off x="2218903" y="3949502"/>
                <a:ext cx="1426" cy="17596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Arrow Connector 327">
                <a:extLst>
                  <a:ext uri="{FF2B5EF4-FFF2-40B4-BE49-F238E27FC236}">
                    <a16:creationId xmlns:a16="http://schemas.microsoft.com/office/drawing/2014/main" id="{34727B9A-1988-6A26-A6D0-581581FE6889}"/>
                  </a:ext>
                </a:extLst>
              </p:cNvPr>
              <p:cNvCxnSpPr>
                <a:cxnSpLocks/>
                <a:stCxn id="279" idx="0"/>
                <a:endCxn id="311" idx="2"/>
              </p:cNvCxnSpPr>
              <p:nvPr/>
            </p:nvCxnSpPr>
            <p:spPr>
              <a:xfrm flipH="1" flipV="1">
                <a:off x="2215889" y="3129172"/>
                <a:ext cx="3014" cy="3486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0" name="Group 349">
                <a:extLst>
                  <a:ext uri="{FF2B5EF4-FFF2-40B4-BE49-F238E27FC236}">
                    <a16:creationId xmlns:a16="http://schemas.microsoft.com/office/drawing/2014/main" id="{CA82C9A9-AE31-C9DC-6036-1069777EFCCE}"/>
                  </a:ext>
                </a:extLst>
              </p:cNvPr>
              <p:cNvGrpSpPr/>
              <p:nvPr/>
            </p:nvGrpSpPr>
            <p:grpSpPr>
              <a:xfrm>
                <a:off x="1901751" y="3179837"/>
                <a:ext cx="752443" cy="276999"/>
                <a:chOff x="2546821" y="3362173"/>
                <a:chExt cx="752443" cy="276999"/>
              </a:xfrm>
            </p:grpSpPr>
            <p:pic>
              <p:nvPicPr>
                <p:cNvPr id="349" name="Picture 348">
                  <a:extLst>
                    <a:ext uri="{FF2B5EF4-FFF2-40B4-BE49-F238E27FC236}">
                      <a16:creationId xmlns:a16="http://schemas.microsoft.com/office/drawing/2014/main" id="{6FB1B4BA-9EA2-A270-410D-539905735D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78834" y="3436504"/>
                  <a:ext cx="466725" cy="143853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6" name="TextBox 325">
                      <a:extLst>
                        <a:ext uri="{FF2B5EF4-FFF2-40B4-BE49-F238E27FC236}">
                          <a16:creationId xmlns:a16="http://schemas.microsoft.com/office/drawing/2014/main" id="{C7B3C6E1-93D0-85C4-A636-6963E9C97B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46821" y="3362173"/>
                      <a:ext cx="752443" cy="276999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×</m:t>
                            </m:r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𝑁</m:t>
                            </m:r>
                          </m:oMath>
                        </m:oMathPara>
                      </a14:m>
                      <a:endParaRPr lang="zh-CN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26" name="TextBox 325">
                      <a:extLst>
                        <a:ext uri="{FF2B5EF4-FFF2-40B4-BE49-F238E27FC236}">
                          <a16:creationId xmlns:a16="http://schemas.microsoft.com/office/drawing/2014/main" id="{C7B3C6E1-93D0-85C4-A636-6963E9C97B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46821" y="3362173"/>
                      <a:ext cx="752443" cy="2769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802BDA95-E8FC-CB2E-6652-FBB28A340BF8}"/>
                  </a:ext>
                </a:extLst>
              </p:cNvPr>
              <p:cNvGrpSpPr/>
              <p:nvPr/>
            </p:nvGrpSpPr>
            <p:grpSpPr>
              <a:xfrm rot="5400000">
                <a:off x="2540548" y="3164440"/>
                <a:ext cx="876689" cy="296963"/>
                <a:chOff x="3671556" y="3118056"/>
                <a:chExt cx="621933" cy="558829"/>
              </a:xfrm>
            </p:grpSpPr>
            <p:grpSp>
              <p:nvGrpSpPr>
                <p:cNvPr id="370" name="Group 369">
                  <a:extLst>
                    <a:ext uri="{FF2B5EF4-FFF2-40B4-BE49-F238E27FC236}">
                      <a16:creationId xmlns:a16="http://schemas.microsoft.com/office/drawing/2014/main" id="{8FE9330B-B5FA-13B0-112A-2F8E2FC088F4}"/>
                    </a:ext>
                  </a:extLst>
                </p:cNvPr>
                <p:cNvGrpSpPr/>
                <p:nvPr/>
              </p:nvGrpSpPr>
              <p:grpSpPr>
                <a:xfrm>
                  <a:off x="3671556" y="3388370"/>
                  <a:ext cx="621933" cy="288515"/>
                  <a:chOff x="3671556" y="3388370"/>
                  <a:chExt cx="621933" cy="288515"/>
                </a:xfrm>
              </p:grpSpPr>
              <p:cxnSp>
                <p:nvCxnSpPr>
                  <p:cNvPr id="364" name="Straight Connector 363">
                    <a:extLst>
                      <a:ext uri="{FF2B5EF4-FFF2-40B4-BE49-F238E27FC236}">
                        <a16:creationId xmlns:a16="http://schemas.microsoft.com/office/drawing/2014/main" id="{B1AD391A-68EA-1390-0650-D7E1B8984D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71556" y="3398021"/>
                    <a:ext cx="621933" cy="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5" name="Straight Connector 364">
                    <a:extLst>
                      <a:ext uri="{FF2B5EF4-FFF2-40B4-BE49-F238E27FC236}">
                        <a16:creationId xmlns:a16="http://schemas.microsoft.com/office/drawing/2014/main" id="{B7CDDBCB-9377-3540-28C4-79A4D7004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71556" y="3388370"/>
                    <a:ext cx="0" cy="28851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71" name="Straight Connector 370">
                  <a:extLst>
                    <a:ext uri="{FF2B5EF4-FFF2-40B4-BE49-F238E27FC236}">
                      <a16:creationId xmlns:a16="http://schemas.microsoft.com/office/drawing/2014/main" id="{534C91C6-F5EB-E742-3DEC-D3C1FB5629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7027" y="3118056"/>
                  <a:ext cx="0" cy="28851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head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3" name="Rectangle 107">
                <a:extLst>
                  <a:ext uri="{FF2B5EF4-FFF2-40B4-BE49-F238E27FC236}">
                    <a16:creationId xmlns:a16="http://schemas.microsoft.com/office/drawing/2014/main" id="{91027269-C574-2A36-0E09-1F757DA45F43}"/>
                  </a:ext>
                </a:extLst>
              </p:cNvPr>
              <p:cNvSpPr/>
              <p:nvPr/>
            </p:nvSpPr>
            <p:spPr>
              <a:xfrm rot="5400000">
                <a:off x="2916602" y="3304894"/>
                <a:ext cx="257672" cy="13417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18" name="TextBox 417">
            <a:extLst>
              <a:ext uri="{FF2B5EF4-FFF2-40B4-BE49-F238E27FC236}">
                <a16:creationId xmlns:a16="http://schemas.microsoft.com/office/drawing/2014/main" id="{E01342C6-0B6D-D3CE-6A9B-4AEAC51A7C22}"/>
              </a:ext>
            </a:extLst>
          </p:cNvPr>
          <p:cNvSpPr txBox="1"/>
          <p:nvPr/>
        </p:nvSpPr>
        <p:spPr>
          <a:xfrm>
            <a:off x="260629" y="66881"/>
            <a:ext cx="3962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(a)</a:t>
            </a:r>
            <a:endParaRPr lang="zh-CN" altLang="en-US" sz="1400" b="1" dirty="0"/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D38348DE-AD36-F976-5C3F-00875EFC3106}"/>
              </a:ext>
            </a:extLst>
          </p:cNvPr>
          <p:cNvSpPr txBox="1"/>
          <p:nvPr/>
        </p:nvSpPr>
        <p:spPr>
          <a:xfrm>
            <a:off x="3518750" y="39892"/>
            <a:ext cx="39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(b)</a:t>
            </a:r>
            <a:endParaRPr lang="zh-CN" altLang="en-US" sz="1400" b="1" dirty="0"/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6649FCD7-9A6D-1A9F-574D-0C24586DCA3E}"/>
              </a:ext>
            </a:extLst>
          </p:cNvPr>
          <p:cNvSpPr txBox="1"/>
          <p:nvPr/>
        </p:nvSpPr>
        <p:spPr>
          <a:xfrm>
            <a:off x="5842338" y="28190"/>
            <a:ext cx="39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(c)</a:t>
            </a:r>
            <a:endParaRPr lang="zh-CN" altLang="en-US" sz="1400" b="1" dirty="0"/>
          </a:p>
        </p:txBody>
      </p:sp>
      <p:cxnSp>
        <p:nvCxnSpPr>
          <p:cNvPr id="433" name="Straight Arrow Connector 432">
            <a:extLst>
              <a:ext uri="{FF2B5EF4-FFF2-40B4-BE49-F238E27FC236}">
                <a16:creationId xmlns:a16="http://schemas.microsoft.com/office/drawing/2014/main" id="{6735DCFA-0602-6FF5-1E88-7C71D8B173D8}"/>
              </a:ext>
            </a:extLst>
          </p:cNvPr>
          <p:cNvCxnSpPr>
            <a:cxnSpLocks/>
            <a:stCxn id="456" idx="2"/>
            <a:endCxn id="437" idx="0"/>
          </p:cNvCxnSpPr>
          <p:nvPr/>
        </p:nvCxnSpPr>
        <p:spPr>
          <a:xfrm>
            <a:off x="9496256" y="875862"/>
            <a:ext cx="6460" cy="1249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AAEF922B-6891-AFA8-D634-6EEDB31C4469}"/>
              </a:ext>
            </a:extLst>
          </p:cNvPr>
          <p:cNvGrpSpPr/>
          <p:nvPr/>
        </p:nvGrpSpPr>
        <p:grpSpPr>
          <a:xfrm>
            <a:off x="8674435" y="1424859"/>
            <a:ext cx="1569444" cy="2305787"/>
            <a:chOff x="8478536" y="1856115"/>
            <a:chExt cx="1330096" cy="1781685"/>
          </a:xfrm>
        </p:grpSpPr>
        <p:grpSp>
          <p:nvGrpSpPr>
            <p:cNvPr id="424" name="Group 423">
              <a:extLst>
                <a:ext uri="{FF2B5EF4-FFF2-40B4-BE49-F238E27FC236}">
                  <a16:creationId xmlns:a16="http://schemas.microsoft.com/office/drawing/2014/main" id="{6F1DC69F-79E6-2D3C-0870-0A1D73D77B1F}"/>
                </a:ext>
              </a:extLst>
            </p:cNvPr>
            <p:cNvGrpSpPr/>
            <p:nvPr/>
          </p:nvGrpSpPr>
          <p:grpSpPr>
            <a:xfrm>
              <a:off x="8551312" y="1856115"/>
              <a:ext cx="1167365" cy="1437098"/>
              <a:chOff x="10523432" y="4369715"/>
              <a:chExt cx="624126" cy="872054"/>
            </a:xfrm>
          </p:grpSpPr>
          <p:sp>
            <p:nvSpPr>
              <p:cNvPr id="54" name="Flowchart: Manual Operation 53">
                <a:extLst>
                  <a:ext uri="{FF2B5EF4-FFF2-40B4-BE49-F238E27FC236}">
                    <a16:creationId xmlns:a16="http://schemas.microsoft.com/office/drawing/2014/main" id="{AAB3119B-6114-4DA7-F55A-931D17F014F1}"/>
                  </a:ext>
                </a:extLst>
              </p:cNvPr>
              <p:cNvSpPr/>
              <p:nvPr/>
            </p:nvSpPr>
            <p:spPr>
              <a:xfrm>
                <a:off x="10525219" y="4369715"/>
                <a:ext cx="618522" cy="361155"/>
              </a:xfrm>
              <a:prstGeom prst="flowChartManualOperation">
                <a:avLst/>
              </a:prstGeom>
              <a:solidFill>
                <a:schemeClr val="accent6">
                  <a:lumMod val="20000"/>
                  <a:lumOff val="80000"/>
                  <a:alpha val="80000"/>
                </a:schemeClr>
              </a:solidFill>
              <a:ln>
                <a:solidFill>
                  <a:schemeClr val="accent1">
                    <a:shade val="15000"/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5" name="Flowchart: Manual Operation 54">
                <a:extLst>
                  <a:ext uri="{FF2B5EF4-FFF2-40B4-BE49-F238E27FC236}">
                    <a16:creationId xmlns:a16="http://schemas.microsoft.com/office/drawing/2014/main" id="{98A5F899-C69E-82FF-B84D-98A10D8FF88C}"/>
                  </a:ext>
                </a:extLst>
              </p:cNvPr>
              <p:cNvSpPr/>
              <p:nvPr/>
            </p:nvSpPr>
            <p:spPr>
              <a:xfrm rot="10800000">
                <a:off x="10523432" y="4877342"/>
                <a:ext cx="624126" cy="364427"/>
              </a:xfrm>
              <a:prstGeom prst="flowChartManualOperation">
                <a:avLst/>
              </a:prstGeom>
              <a:solidFill>
                <a:schemeClr val="bg1">
                  <a:lumMod val="95000"/>
                  <a:alpha val="80000"/>
                </a:schemeClr>
              </a:solidFill>
              <a:ln>
                <a:solidFill>
                  <a:schemeClr val="bg1">
                    <a:lumMod val="75000"/>
                    <a:alpha val="6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8021E42-ECC1-F546-6898-CBA1AA1BE632}"/>
                  </a:ext>
                </a:extLst>
              </p:cNvPr>
              <p:cNvSpPr/>
              <p:nvPr/>
            </p:nvSpPr>
            <p:spPr>
              <a:xfrm>
                <a:off x="10680409" y="4755677"/>
                <a:ext cx="276897" cy="90438"/>
              </a:xfrm>
              <a:prstGeom prst="rect">
                <a:avLst/>
              </a:prstGeom>
              <a:solidFill>
                <a:srgbClr val="FFECA9"/>
              </a:solidFill>
              <a:ln w="6350">
                <a:solidFill>
                  <a:schemeClr val="accent1">
                    <a:shade val="15000"/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Latent </a:t>
                </a:r>
                <a:endParaRPr lang="zh-CN" alt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16EFD1A5-2AEC-2126-983D-34C37283F62B}"/>
                </a:ext>
              </a:extLst>
            </p:cNvPr>
            <p:cNvSpPr txBox="1"/>
            <p:nvPr/>
          </p:nvSpPr>
          <p:spPr>
            <a:xfrm>
              <a:off x="8516073" y="1927129"/>
              <a:ext cx="1234051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Equivariant</a:t>
              </a:r>
            </a:p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CNN Stack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6" name="TextBox 425">
              <a:extLst>
                <a:ext uri="{FF2B5EF4-FFF2-40B4-BE49-F238E27FC236}">
                  <a16:creationId xmlns:a16="http://schemas.microsoft.com/office/drawing/2014/main" id="{79EEF144-9D2C-6C5C-8690-00EE019808BE}"/>
                </a:ext>
              </a:extLst>
            </p:cNvPr>
            <p:cNvSpPr txBox="1"/>
            <p:nvPr/>
          </p:nvSpPr>
          <p:spPr>
            <a:xfrm>
              <a:off x="8478536" y="2794384"/>
              <a:ext cx="1300527" cy="4994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Equivariant</a:t>
              </a:r>
            </a:p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Transpose-CNN</a:t>
              </a:r>
            </a:p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Stack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5" name="Rectangle: Rounded Corners 434">
              <a:extLst>
                <a:ext uri="{FF2B5EF4-FFF2-40B4-BE49-F238E27FC236}">
                  <a16:creationId xmlns:a16="http://schemas.microsoft.com/office/drawing/2014/main" id="{F59A087D-1525-981C-673B-41C26FD7E372}"/>
                </a:ext>
              </a:extLst>
            </p:cNvPr>
            <p:cNvSpPr/>
            <p:nvPr/>
          </p:nvSpPr>
          <p:spPr>
            <a:xfrm>
              <a:off x="8619102" y="3354094"/>
              <a:ext cx="1019393" cy="283706"/>
            </a:xfrm>
            <a:prstGeom prst="roundRect">
              <a:avLst/>
            </a:prstGeom>
            <a:solidFill>
              <a:srgbClr val="FCE1E0">
                <a:alpha val="40000"/>
              </a:srgb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Group &amp; Global Pooling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36" name="Rectangle 107">
              <a:extLst>
                <a:ext uri="{FF2B5EF4-FFF2-40B4-BE49-F238E27FC236}">
                  <a16:creationId xmlns:a16="http://schemas.microsoft.com/office/drawing/2014/main" id="{A83E77D8-F870-9291-158A-81739CC578B2}"/>
                </a:ext>
              </a:extLst>
            </p:cNvPr>
            <p:cNvSpPr/>
            <p:nvPr/>
          </p:nvSpPr>
          <p:spPr>
            <a:xfrm rot="16200000" flipH="1">
              <a:off x="9119020" y="2794824"/>
              <a:ext cx="929962" cy="449262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59589 w 1064986"/>
                <a:gd name="connsiteY0" fmla="*/ 694210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59589" y="694210"/>
                  </a:moveTo>
                  <a:cubicBezTo>
                    <a:pt x="1059589" y="766860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37" name="Rectangle: Rounded Corners 436">
            <a:extLst>
              <a:ext uri="{FF2B5EF4-FFF2-40B4-BE49-F238E27FC236}">
                <a16:creationId xmlns:a16="http://schemas.microsoft.com/office/drawing/2014/main" id="{C3369F67-7F4A-AC1B-4DE3-1753B8DB659C}"/>
              </a:ext>
            </a:extLst>
          </p:cNvPr>
          <p:cNvSpPr/>
          <p:nvPr/>
        </p:nvSpPr>
        <p:spPr>
          <a:xfrm>
            <a:off x="8949825" y="1000797"/>
            <a:ext cx="1105781" cy="317050"/>
          </a:xfrm>
          <a:prstGeom prst="roundRect">
            <a:avLst/>
          </a:prstGeom>
          <a:solidFill>
            <a:srgbClr val="F7FEFF">
              <a:alpha val="4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Prim2Wigner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39" name="Straight Arrow Connector 438">
            <a:extLst>
              <a:ext uri="{FF2B5EF4-FFF2-40B4-BE49-F238E27FC236}">
                <a16:creationId xmlns:a16="http://schemas.microsoft.com/office/drawing/2014/main" id="{E1952ECE-7367-B7E2-436C-38897E832524}"/>
              </a:ext>
            </a:extLst>
          </p:cNvPr>
          <p:cNvCxnSpPr>
            <a:cxnSpLocks/>
            <a:stCxn id="437" idx="2"/>
            <a:endCxn id="54" idx="0"/>
          </p:cNvCxnSpPr>
          <p:nvPr/>
        </p:nvCxnSpPr>
        <p:spPr>
          <a:xfrm flipH="1">
            <a:off x="9446782" y="1317847"/>
            <a:ext cx="55934" cy="1070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Arrow Connector 451">
            <a:extLst>
              <a:ext uri="{FF2B5EF4-FFF2-40B4-BE49-F238E27FC236}">
                <a16:creationId xmlns:a16="http://schemas.microsoft.com/office/drawing/2014/main" id="{A792E9DD-0246-79FD-B44A-371B65FEBC7A}"/>
              </a:ext>
            </a:extLst>
          </p:cNvPr>
          <p:cNvCxnSpPr>
            <a:cxnSpLocks/>
            <a:stCxn id="435" idx="2"/>
            <a:endCxn id="462" idx="0"/>
          </p:cNvCxnSpPr>
          <p:nvPr/>
        </p:nvCxnSpPr>
        <p:spPr>
          <a:xfrm>
            <a:off x="9441712" y="3730646"/>
            <a:ext cx="15610" cy="1634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Rectangle: Rounded Corners 455">
            <a:extLst>
              <a:ext uri="{FF2B5EF4-FFF2-40B4-BE49-F238E27FC236}">
                <a16:creationId xmlns:a16="http://schemas.microsoft.com/office/drawing/2014/main" id="{B1C26E44-2E78-4C00-89CB-104C0CBB29B4}"/>
              </a:ext>
            </a:extLst>
          </p:cNvPr>
          <p:cNvSpPr/>
          <p:nvPr/>
        </p:nvSpPr>
        <p:spPr>
          <a:xfrm>
            <a:off x="8880272" y="663344"/>
            <a:ext cx="1231967" cy="212518"/>
          </a:xfrm>
          <a:prstGeom prst="roundRect">
            <a:avLst/>
          </a:prstGeom>
          <a:solidFill>
            <a:srgbClr val="FFECA9">
              <a:alpha val="4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</a:rPr>
              <a:t>Upsampling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62" name="Rectangle: Rounded Corners 461">
            <a:extLst>
              <a:ext uri="{FF2B5EF4-FFF2-40B4-BE49-F238E27FC236}">
                <a16:creationId xmlns:a16="http://schemas.microsoft.com/office/drawing/2014/main" id="{67401212-206A-43E1-21EA-D0D9B73DB353}"/>
              </a:ext>
            </a:extLst>
          </p:cNvPr>
          <p:cNvSpPr/>
          <p:nvPr/>
        </p:nvSpPr>
        <p:spPr>
          <a:xfrm>
            <a:off x="8840296" y="3894078"/>
            <a:ext cx="1234051" cy="415912"/>
          </a:xfrm>
          <a:prstGeom prst="roundRect">
            <a:avLst/>
          </a:prstGeom>
          <a:solidFill>
            <a:srgbClr val="C2E8F7"/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Feed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Forward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66" name="Straight Arrow Connector 465">
            <a:extLst>
              <a:ext uri="{FF2B5EF4-FFF2-40B4-BE49-F238E27FC236}">
                <a16:creationId xmlns:a16="http://schemas.microsoft.com/office/drawing/2014/main" id="{B4A5F8C0-3029-57DD-5CA9-09D4087CF54C}"/>
              </a:ext>
            </a:extLst>
          </p:cNvPr>
          <p:cNvCxnSpPr>
            <a:cxnSpLocks/>
            <a:stCxn id="462" idx="2"/>
          </p:cNvCxnSpPr>
          <p:nvPr/>
        </p:nvCxnSpPr>
        <p:spPr>
          <a:xfrm>
            <a:off x="9457322" y="4309990"/>
            <a:ext cx="0" cy="1900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0" name="TextBox 469">
                <a:extLst>
                  <a:ext uri="{FF2B5EF4-FFF2-40B4-BE49-F238E27FC236}">
                    <a16:creationId xmlns:a16="http://schemas.microsoft.com/office/drawing/2014/main" id="{1B50F32C-A2A9-EC60-09D7-8D9918C9B028}"/>
                  </a:ext>
                </a:extLst>
              </p:cNvPr>
              <p:cNvSpPr txBox="1"/>
              <p:nvPr/>
            </p:nvSpPr>
            <p:spPr>
              <a:xfrm>
                <a:off x="8824265" y="4476230"/>
                <a:ext cx="14572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𝑛𝑘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sz="1400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470" name="TextBox 469">
                <a:extLst>
                  <a:ext uri="{FF2B5EF4-FFF2-40B4-BE49-F238E27FC236}">
                    <a16:creationId xmlns:a16="http://schemas.microsoft.com/office/drawing/2014/main" id="{1B50F32C-A2A9-EC60-09D7-8D9918C9B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265" y="4476230"/>
                <a:ext cx="1457241" cy="307777"/>
              </a:xfrm>
              <a:prstGeom prst="rect">
                <a:avLst/>
              </a:prstGeom>
              <a:blipFill>
                <a:blip r:embed="rId14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4" name="TextBox 473">
                <a:extLst>
                  <a:ext uri="{FF2B5EF4-FFF2-40B4-BE49-F238E27FC236}">
                    <a16:creationId xmlns:a16="http://schemas.microsoft.com/office/drawing/2014/main" id="{E0440752-5FD2-DE53-3FBD-451916B4C794}"/>
                  </a:ext>
                </a:extLst>
              </p:cNvPr>
              <p:cNvSpPr txBox="1"/>
              <p:nvPr/>
            </p:nvSpPr>
            <p:spPr>
              <a:xfrm>
                <a:off x="1850274" y="2740001"/>
                <a:ext cx="1426895" cy="413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sz="1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𝑛𝑘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p>
                              </m:sSubSup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zh-CN" alt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altLang="zh-CN" sz="1400" b="0" i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474" name="TextBox 473">
                <a:extLst>
                  <a:ext uri="{FF2B5EF4-FFF2-40B4-BE49-F238E27FC236}">
                    <a16:creationId xmlns:a16="http://schemas.microsoft.com/office/drawing/2014/main" id="{E0440752-5FD2-DE53-3FBD-451916B4C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0274" y="2740001"/>
                <a:ext cx="1426895" cy="413190"/>
              </a:xfrm>
              <a:prstGeom prst="rect">
                <a:avLst/>
              </a:prstGeom>
              <a:blipFill>
                <a:blip r:embed="rId15"/>
                <a:stretch>
                  <a:fillRect r="-94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F2843A54-AFD1-349A-B1E7-95087E871562}"/>
              </a:ext>
            </a:extLst>
          </p:cNvPr>
          <p:cNvCxnSpPr>
            <a:cxnSpLocks/>
          </p:cNvCxnSpPr>
          <p:nvPr/>
        </p:nvCxnSpPr>
        <p:spPr>
          <a:xfrm>
            <a:off x="9502714" y="457084"/>
            <a:ext cx="0" cy="2062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Rectangle: Rounded Corners 486">
            <a:extLst>
              <a:ext uri="{FF2B5EF4-FFF2-40B4-BE49-F238E27FC236}">
                <a16:creationId xmlns:a16="http://schemas.microsoft.com/office/drawing/2014/main" id="{443B0D9D-97C1-6E09-7CBC-0AF8D7CB9F27}"/>
              </a:ext>
            </a:extLst>
          </p:cNvPr>
          <p:cNvSpPr/>
          <p:nvPr/>
        </p:nvSpPr>
        <p:spPr>
          <a:xfrm>
            <a:off x="1536467" y="3712136"/>
            <a:ext cx="2162393" cy="264583"/>
          </a:xfrm>
          <a:prstGeom prst="roundRect">
            <a:avLst/>
          </a:prstGeom>
          <a:solidFill>
            <a:srgbClr val="FEF8F8">
              <a:alpha val="6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Equivariant-VAE 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88" name="Rectangle: Rounded Corners 487">
            <a:extLst>
              <a:ext uri="{FF2B5EF4-FFF2-40B4-BE49-F238E27FC236}">
                <a16:creationId xmlns:a16="http://schemas.microsoft.com/office/drawing/2014/main" id="{9A3A0655-5B26-5C57-6273-41B415B6E1D7}"/>
              </a:ext>
            </a:extLst>
          </p:cNvPr>
          <p:cNvSpPr/>
          <p:nvPr/>
        </p:nvSpPr>
        <p:spPr>
          <a:xfrm>
            <a:off x="1536468" y="4083829"/>
            <a:ext cx="2183304" cy="264583"/>
          </a:xfrm>
          <a:prstGeom prst="roundRect">
            <a:avLst/>
          </a:prstGeom>
          <a:solidFill>
            <a:srgbClr val="FEF8F8">
              <a:alpha val="6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Band Positional 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298B08D8-F17D-AF12-E7AA-380198B08A89}"/>
              </a:ext>
            </a:extLst>
          </p:cNvPr>
          <p:cNvSpPr/>
          <p:nvPr/>
        </p:nvSpPr>
        <p:spPr>
          <a:xfrm>
            <a:off x="1536467" y="4443740"/>
            <a:ext cx="2183305" cy="264583"/>
          </a:xfrm>
          <a:prstGeom prst="roundRect">
            <a:avLst/>
          </a:prstGeom>
          <a:solidFill>
            <a:srgbClr val="FEF8F8">
              <a:alpha val="6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K-space Positional 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0" name="TextBox 489">
                <a:extLst>
                  <a:ext uri="{FF2B5EF4-FFF2-40B4-BE49-F238E27FC236}">
                    <a16:creationId xmlns:a16="http://schemas.microsoft.com/office/drawing/2014/main" id="{D342A171-BF50-0ADB-482E-39DFE59D41CE}"/>
                  </a:ext>
                </a:extLst>
              </p:cNvPr>
              <p:cNvSpPr txBox="1"/>
              <p:nvPr/>
            </p:nvSpPr>
            <p:spPr>
              <a:xfrm>
                <a:off x="29085" y="3668942"/>
                <a:ext cx="8237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𝑛𝑘</m:t>
                              </m:r>
                            </m:sub>
                          </m:sSub>
                          <m:r>
                            <a:rPr lang="zh-CN" alt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altLang="zh-CN" sz="14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CN" sz="1400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90" name="TextBox 489">
                <a:extLst>
                  <a:ext uri="{FF2B5EF4-FFF2-40B4-BE49-F238E27FC236}">
                    <a16:creationId xmlns:a16="http://schemas.microsoft.com/office/drawing/2014/main" id="{D342A171-BF50-0ADB-482E-39DFE59D4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85" y="3668942"/>
                <a:ext cx="823720" cy="307777"/>
              </a:xfrm>
              <a:prstGeom prst="rect">
                <a:avLst/>
              </a:prstGeom>
              <a:blipFill>
                <a:blip r:embed="rId16"/>
                <a:stretch>
                  <a:fillRect r="-31111"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1" name="Rectangle 107">
            <a:extLst>
              <a:ext uri="{FF2B5EF4-FFF2-40B4-BE49-F238E27FC236}">
                <a16:creationId xmlns:a16="http://schemas.microsoft.com/office/drawing/2014/main" id="{DF1C7B09-2C86-954A-401F-348C62F7AD5E}"/>
              </a:ext>
            </a:extLst>
          </p:cNvPr>
          <p:cNvSpPr/>
          <p:nvPr/>
        </p:nvSpPr>
        <p:spPr>
          <a:xfrm rot="16200000">
            <a:off x="3417425" y="4132067"/>
            <a:ext cx="780788" cy="190305"/>
          </a:xfrm>
          <a:custGeom>
            <a:avLst/>
            <a:gdLst>
              <a:gd name="connsiteX0" fmla="*/ 0 w 1063961"/>
              <a:gd name="connsiteY0" fmla="*/ 0 h 733578"/>
              <a:gd name="connsiteX1" fmla="*/ 1063961 w 1063961"/>
              <a:gd name="connsiteY1" fmla="*/ 0 h 733578"/>
              <a:gd name="connsiteX2" fmla="*/ 1063961 w 1063961"/>
              <a:gd name="connsiteY2" fmla="*/ 733578 h 733578"/>
              <a:gd name="connsiteX3" fmla="*/ 0 w 1063961"/>
              <a:gd name="connsiteY3" fmla="*/ 733578 h 733578"/>
              <a:gd name="connsiteX4" fmla="*/ 0 w 1063961"/>
              <a:gd name="connsiteY4" fmla="*/ 0 h 733578"/>
              <a:gd name="connsiteX0" fmla="*/ 1063961 w 1063961"/>
              <a:gd name="connsiteY0" fmla="*/ 0 h 733578"/>
              <a:gd name="connsiteX1" fmla="*/ 1063961 w 1063961"/>
              <a:gd name="connsiteY1" fmla="*/ 733578 h 733578"/>
              <a:gd name="connsiteX2" fmla="*/ 0 w 1063961"/>
              <a:gd name="connsiteY2" fmla="*/ 733578 h 733578"/>
              <a:gd name="connsiteX3" fmla="*/ 91440 w 1063961"/>
              <a:gd name="connsiteY3" fmla="*/ 91440 h 733578"/>
              <a:gd name="connsiteX0" fmla="*/ 1063961 w 1063961"/>
              <a:gd name="connsiteY0" fmla="*/ 0 h 733578"/>
              <a:gd name="connsiteX1" fmla="*/ 1063961 w 1063961"/>
              <a:gd name="connsiteY1" fmla="*/ 733578 h 733578"/>
              <a:gd name="connsiteX2" fmla="*/ 0 w 1063961"/>
              <a:gd name="connsiteY2" fmla="*/ 733578 h 733578"/>
              <a:gd name="connsiteX3" fmla="*/ 2540 w 1063961"/>
              <a:gd name="connsiteY3" fmla="*/ 49106 h 733578"/>
              <a:gd name="connsiteX0" fmla="*/ 1063961 w 1063961"/>
              <a:gd name="connsiteY0" fmla="*/ 3991 h 737569"/>
              <a:gd name="connsiteX1" fmla="*/ 1063961 w 1063961"/>
              <a:gd name="connsiteY1" fmla="*/ 737569 h 737569"/>
              <a:gd name="connsiteX2" fmla="*/ 0 w 1063961"/>
              <a:gd name="connsiteY2" fmla="*/ 737569 h 737569"/>
              <a:gd name="connsiteX3" fmla="*/ 6790 w 1063961"/>
              <a:gd name="connsiteY3" fmla="*/ 0 h 737569"/>
              <a:gd name="connsiteX0" fmla="*/ 1063961 w 1063961"/>
              <a:gd name="connsiteY0" fmla="*/ 2180 h 735758"/>
              <a:gd name="connsiteX1" fmla="*/ 1063961 w 1063961"/>
              <a:gd name="connsiteY1" fmla="*/ 735758 h 735758"/>
              <a:gd name="connsiteX2" fmla="*/ 0 w 1063961"/>
              <a:gd name="connsiteY2" fmla="*/ 735758 h 735758"/>
              <a:gd name="connsiteX3" fmla="*/ 415 w 1063961"/>
              <a:gd name="connsiteY3" fmla="*/ 0 h 735758"/>
              <a:gd name="connsiteX0" fmla="*/ 1063961 w 1063961"/>
              <a:gd name="connsiteY0" fmla="*/ 197473 h 931051"/>
              <a:gd name="connsiteX1" fmla="*/ 1063961 w 1063961"/>
              <a:gd name="connsiteY1" fmla="*/ 931051 h 931051"/>
              <a:gd name="connsiteX2" fmla="*/ 0 w 1063961"/>
              <a:gd name="connsiteY2" fmla="*/ 931051 h 931051"/>
              <a:gd name="connsiteX3" fmla="*/ 415 w 1063961"/>
              <a:gd name="connsiteY3" fmla="*/ 0 h 931051"/>
              <a:gd name="connsiteX0" fmla="*/ 1064986 w 1064986"/>
              <a:gd name="connsiteY0" fmla="*/ 407377 h 1140955"/>
              <a:gd name="connsiteX1" fmla="*/ 1064986 w 1064986"/>
              <a:gd name="connsiteY1" fmla="*/ 1140955 h 1140955"/>
              <a:gd name="connsiteX2" fmla="*/ 1025 w 1064986"/>
              <a:gd name="connsiteY2" fmla="*/ 1140955 h 1140955"/>
              <a:gd name="connsiteX3" fmla="*/ 0 w 1064986"/>
              <a:gd name="connsiteY3" fmla="*/ 0 h 1140955"/>
              <a:gd name="connsiteX0" fmla="*/ 1067155 w 1067155"/>
              <a:gd name="connsiteY0" fmla="*/ -1 h 733577"/>
              <a:gd name="connsiteX1" fmla="*/ 1067155 w 1067155"/>
              <a:gd name="connsiteY1" fmla="*/ 733577 h 733577"/>
              <a:gd name="connsiteX2" fmla="*/ 3194 w 1067155"/>
              <a:gd name="connsiteY2" fmla="*/ 733577 h 733577"/>
              <a:gd name="connsiteX3" fmla="*/ 0 w 1067155"/>
              <a:gd name="connsiteY3" fmla="*/ 84111 h 733577"/>
              <a:gd name="connsiteX0" fmla="*/ 1067155 w 1067155"/>
              <a:gd name="connsiteY0" fmla="*/ 8990 h 742568"/>
              <a:gd name="connsiteX1" fmla="*/ 1067155 w 1067155"/>
              <a:gd name="connsiteY1" fmla="*/ 742568 h 742568"/>
              <a:gd name="connsiteX2" fmla="*/ 3194 w 1067155"/>
              <a:gd name="connsiteY2" fmla="*/ 742568 h 742568"/>
              <a:gd name="connsiteX3" fmla="*/ 0 w 1067155"/>
              <a:gd name="connsiteY3" fmla="*/ 0 h 742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155" h="742568">
                <a:moveTo>
                  <a:pt x="1067155" y="8990"/>
                </a:moveTo>
                <a:lnTo>
                  <a:pt x="1067155" y="742568"/>
                </a:lnTo>
                <a:lnTo>
                  <a:pt x="3194" y="742568"/>
                </a:lnTo>
                <a:cubicBezTo>
                  <a:pt x="3194" y="498042"/>
                  <a:pt x="0" y="0"/>
                  <a:pt x="0" y="0"/>
                </a:cubicBezTo>
              </a:path>
            </a:pathLst>
          </a:custGeom>
          <a:noFill/>
          <a:ln>
            <a:headEnd type="non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92" name="Straight Arrow Connector 491">
            <a:extLst>
              <a:ext uri="{FF2B5EF4-FFF2-40B4-BE49-F238E27FC236}">
                <a16:creationId xmlns:a16="http://schemas.microsoft.com/office/drawing/2014/main" id="{826C42A9-65BC-CAB6-DD63-9D0B74DB43DB}"/>
              </a:ext>
            </a:extLst>
          </p:cNvPr>
          <p:cNvCxnSpPr>
            <a:cxnSpLocks/>
            <a:stCxn id="488" idx="3"/>
          </p:cNvCxnSpPr>
          <p:nvPr/>
        </p:nvCxnSpPr>
        <p:spPr>
          <a:xfrm>
            <a:off x="3719772" y="4216121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Arrow Connector 496">
            <a:extLst>
              <a:ext uri="{FF2B5EF4-FFF2-40B4-BE49-F238E27FC236}">
                <a16:creationId xmlns:a16="http://schemas.microsoft.com/office/drawing/2014/main" id="{3264A474-FBA5-2E2D-C906-79BA6E8634AA}"/>
              </a:ext>
            </a:extLst>
          </p:cNvPr>
          <p:cNvCxnSpPr>
            <a:cxnSpLocks/>
          </p:cNvCxnSpPr>
          <p:nvPr/>
        </p:nvCxnSpPr>
        <p:spPr>
          <a:xfrm>
            <a:off x="4247006" y="4224308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802D14E4-9547-DD72-4F69-F2AADB3B94D6}"/>
                  </a:ext>
                </a:extLst>
              </p:cNvPr>
              <p:cNvSpPr txBox="1"/>
              <p:nvPr/>
            </p:nvSpPr>
            <p:spPr>
              <a:xfrm>
                <a:off x="4551703" y="4023387"/>
                <a:ext cx="547971" cy="3207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altLang="zh-CN" sz="1400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802D14E4-9547-DD72-4F69-F2AADB3B9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703" y="4023387"/>
                <a:ext cx="547971" cy="320729"/>
              </a:xfrm>
              <a:prstGeom prst="rect">
                <a:avLst/>
              </a:prstGeom>
              <a:blipFill>
                <a:blip r:embed="rId17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0" name="TextBox 499">
                <a:extLst>
                  <a:ext uri="{FF2B5EF4-FFF2-40B4-BE49-F238E27FC236}">
                    <a16:creationId xmlns:a16="http://schemas.microsoft.com/office/drawing/2014/main" id="{7B00E5E2-59CA-AD44-63EB-0EF93E21A268}"/>
                  </a:ext>
                </a:extLst>
              </p:cNvPr>
              <p:cNvSpPr txBox="1"/>
              <p:nvPr/>
            </p:nvSpPr>
            <p:spPr>
              <a:xfrm>
                <a:off x="482600" y="3986824"/>
                <a:ext cx="20935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altLang="zh-CN" sz="1800" b="0" i="1" dirty="0">
                  <a:latin typeface="Cambria Math" panose="02040503050406030204" pitchFamily="18" charset="0"/>
                </a:endParaRPr>
              </a:p>
              <a:p>
                <a:pPr/>
                <a:endParaRPr lang="zh-CN" altLang="en-US" sz="1800" dirty="0"/>
              </a:p>
            </p:txBody>
          </p:sp>
        </mc:Choice>
        <mc:Fallback>
          <p:sp>
            <p:nvSpPr>
              <p:cNvPr id="500" name="TextBox 499">
                <a:extLst>
                  <a:ext uri="{FF2B5EF4-FFF2-40B4-BE49-F238E27FC236}">
                    <a16:creationId xmlns:a16="http://schemas.microsoft.com/office/drawing/2014/main" id="{7B00E5E2-59CA-AD44-63EB-0EF93E21A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0" y="3986824"/>
                <a:ext cx="209355" cy="646331"/>
              </a:xfrm>
              <a:prstGeom prst="rect">
                <a:avLst/>
              </a:prstGeom>
              <a:blipFill>
                <a:blip r:embed="rId18"/>
                <a:stretch>
                  <a:fillRect r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D47CD653-6E7C-3623-C375-B31A5CD2D658}"/>
                  </a:ext>
                </a:extLst>
              </p:cNvPr>
              <p:cNvSpPr txBox="1"/>
              <p:nvPr/>
            </p:nvSpPr>
            <p:spPr>
              <a:xfrm>
                <a:off x="506692" y="4369715"/>
                <a:ext cx="305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D47CD653-6E7C-3623-C375-B31A5CD2D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692" y="4369715"/>
                <a:ext cx="305430" cy="369332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3" name="Straight Arrow Connector 502">
            <a:extLst>
              <a:ext uri="{FF2B5EF4-FFF2-40B4-BE49-F238E27FC236}">
                <a16:creationId xmlns:a16="http://schemas.microsoft.com/office/drawing/2014/main" id="{F8668EF5-346B-0AF6-2002-3D31546E643F}"/>
              </a:ext>
            </a:extLst>
          </p:cNvPr>
          <p:cNvCxnSpPr>
            <a:cxnSpLocks/>
          </p:cNvCxnSpPr>
          <p:nvPr/>
        </p:nvCxnSpPr>
        <p:spPr>
          <a:xfrm>
            <a:off x="1112646" y="3844427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Straight Arrow Connector 503">
            <a:extLst>
              <a:ext uri="{FF2B5EF4-FFF2-40B4-BE49-F238E27FC236}">
                <a16:creationId xmlns:a16="http://schemas.microsoft.com/office/drawing/2014/main" id="{0A869BDC-1A68-7BFE-9B2A-54CA458657E0}"/>
              </a:ext>
            </a:extLst>
          </p:cNvPr>
          <p:cNvCxnSpPr>
            <a:cxnSpLocks/>
          </p:cNvCxnSpPr>
          <p:nvPr/>
        </p:nvCxnSpPr>
        <p:spPr>
          <a:xfrm>
            <a:off x="1112646" y="4183751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31A2EABF-2F51-5B11-812B-BC858CCA92D1}"/>
              </a:ext>
            </a:extLst>
          </p:cNvPr>
          <p:cNvCxnSpPr>
            <a:cxnSpLocks/>
          </p:cNvCxnSpPr>
          <p:nvPr/>
        </p:nvCxnSpPr>
        <p:spPr>
          <a:xfrm>
            <a:off x="1112646" y="4568782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6" name="TextBox 505">
            <a:extLst>
              <a:ext uri="{FF2B5EF4-FFF2-40B4-BE49-F238E27FC236}">
                <a16:creationId xmlns:a16="http://schemas.microsoft.com/office/drawing/2014/main" id="{5FE162A5-B544-2FFE-334A-DED267386014}"/>
              </a:ext>
            </a:extLst>
          </p:cNvPr>
          <p:cNvSpPr txBox="1"/>
          <p:nvPr/>
        </p:nvSpPr>
        <p:spPr>
          <a:xfrm>
            <a:off x="8302331" y="24695"/>
            <a:ext cx="39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(d)</a:t>
            </a:r>
            <a:endParaRPr lang="zh-CN" altLang="en-US" sz="1400" b="1" dirty="0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3AA4A90A-D383-EFA9-CF64-E947EB1D1704}"/>
              </a:ext>
            </a:extLst>
          </p:cNvPr>
          <p:cNvSpPr txBox="1"/>
          <p:nvPr/>
        </p:nvSpPr>
        <p:spPr>
          <a:xfrm>
            <a:off x="86338" y="3382585"/>
            <a:ext cx="39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(e)</a:t>
            </a:r>
            <a:endParaRPr lang="zh-CN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40494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130</Words>
  <Application>Microsoft Office PowerPoint</Application>
  <PresentationFormat>Widescreen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Hou, Bowen</dc:creator>
  <cp:lastModifiedBy>Hou, Bowen</cp:lastModifiedBy>
  <cp:revision>72</cp:revision>
  <dcterms:created xsi:type="dcterms:W3CDTF">2025-02-25T00:55:48Z</dcterms:created>
  <dcterms:modified xsi:type="dcterms:W3CDTF">2025-02-25T03:49:48Z</dcterms:modified>
</cp:coreProperties>
</file>